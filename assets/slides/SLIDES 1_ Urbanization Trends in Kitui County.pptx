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T Sans Narrow"/>
      <p:regular r:id="rId23"/>
      <p:bold r:id="rId24"/>
    </p:embeddedFont>
    <p:embeddedFont>
      <p:font typeface="Tahoma"/>
      <p:regular r:id="rId25"/>
      <p:bold r:id="rId26"/>
    </p:embeddedFont>
    <p:embeddedFont>
      <p:font typeface="DM Sans"/>
      <p:regular r:id="rId27"/>
      <p:bold r:id="rId28"/>
      <p:italic r:id="rId29"/>
      <p:boldItalic r:id="rId30"/>
    </p:embeddedFont>
    <p:embeddedFont>
      <p:font typeface="Open Sans"/>
      <p:regular r:id="rId31"/>
      <p:bold r:id="rId32"/>
      <p:italic r:id="rId33"/>
      <p:boldItalic r:id="rId34"/>
    </p:embeddedFont>
    <p:embeddedFont>
      <p:font typeface="Forum"/>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TSansNarrow-bold.fntdata"/><Relationship Id="rId23" Type="http://schemas.openxmlformats.org/officeDocument/2006/relationships/font" Target="fonts/PTSansNarrow-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ahoma-bold.fntdata"/><Relationship Id="rId25" Type="http://schemas.openxmlformats.org/officeDocument/2006/relationships/font" Target="fonts/Tahoma-regular.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regular.fntdata"/><Relationship Id="rId30" Type="http://schemas.openxmlformats.org/officeDocument/2006/relationships/font" Target="fonts/DMSans-boldItalic.fntdata"/><Relationship Id="rId11" Type="http://schemas.openxmlformats.org/officeDocument/2006/relationships/slide" Target="slides/slide6.xml"/><Relationship Id="rId33" Type="http://schemas.openxmlformats.org/officeDocument/2006/relationships/font" Target="fonts/OpenSans-italic.fntdata"/><Relationship Id="rId10" Type="http://schemas.openxmlformats.org/officeDocument/2006/relationships/slide" Target="slides/slide5.xml"/><Relationship Id="rId32" Type="http://schemas.openxmlformats.org/officeDocument/2006/relationships/font" Target="fonts/OpenSans-bold.fntdata"/><Relationship Id="rId13" Type="http://schemas.openxmlformats.org/officeDocument/2006/relationships/slide" Target="slides/slide8.xml"/><Relationship Id="rId35" Type="http://schemas.openxmlformats.org/officeDocument/2006/relationships/font" Target="fonts/Forum-regular.fntdata"/><Relationship Id="rId12" Type="http://schemas.openxmlformats.org/officeDocument/2006/relationships/slide" Target="slides/slide7.xml"/><Relationship Id="rId34" Type="http://schemas.openxmlformats.org/officeDocument/2006/relationships/font" Target="fonts/Open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3b3593d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3b3593d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3b3593df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3b3593df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3b3593df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3b3593df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3b3593df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53b3593df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3b3593df6_0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3b3593df6_0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3b3593df6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3b3593df6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3b3593df6_0_1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3b3593df6_0_1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3b3593df6_0_1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3b3593df6_0_1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3b3593df6_0_1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3b3593df6_0_1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3b3593df6_0_1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3b3593df6_0_1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53b3593df6_0_1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53b3593df6_0_1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53b3593df6_0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53b3593df6_0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53b3593df6_0_1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53b3593df6_0_1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3b3593df6_0_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53b3593df6_0_1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3b3593df6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53b3593df6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53b3593df6_0_1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53b3593df6_0_1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LT 2">
  <p:cSld name="BLANK_1">
    <p:bg>
      <p:bgPr>
        <a:solidFill>
          <a:schemeClr val="dk2"/>
        </a:solidFill>
      </p:bgPr>
    </p:bg>
    <p:spTree>
      <p:nvGrpSpPr>
        <p:cNvPr id="62" name="Shape 62"/>
        <p:cNvGrpSpPr/>
        <p:nvPr/>
      </p:nvGrpSpPr>
      <p:grpSpPr>
        <a:xfrm>
          <a:off x="0" y="0"/>
          <a:ext cx="0" cy="0"/>
          <a:chOff x="0" y="0"/>
          <a:chExt cx="0" cy="0"/>
        </a:xfrm>
      </p:grpSpPr>
      <p:sp>
        <p:nvSpPr>
          <p:cNvPr id="63" name="Google Shape;63;p13"/>
          <p:cNvSpPr txBox="1"/>
          <p:nvPr>
            <p:ph type="title"/>
          </p:nvPr>
        </p:nvSpPr>
        <p:spPr>
          <a:xfrm>
            <a:off x="228600" y="3389761"/>
            <a:ext cx="4704000" cy="1590600"/>
          </a:xfrm>
          <a:prstGeom prst="rect">
            <a:avLst/>
          </a:prstGeom>
        </p:spPr>
        <p:txBody>
          <a:bodyPr anchorCtr="0" anchor="b" bIns="0" lIns="0" spcFirstLastPara="1" rIns="91425" wrap="square" tIns="91425">
            <a:normAutofit/>
          </a:bodyPr>
          <a:lstStyle>
            <a:lvl1pPr lvl="0">
              <a:lnSpc>
                <a:spcPct val="75000"/>
              </a:lnSpc>
              <a:spcBef>
                <a:spcPts val="0"/>
              </a:spcBef>
              <a:spcAft>
                <a:spcPts val="0"/>
              </a:spcAft>
              <a:buClr>
                <a:schemeClr val="lt1"/>
              </a:buClr>
              <a:buSzPts val="3600"/>
              <a:buFont typeface="Forum"/>
              <a:buNone/>
              <a:defRPr sz="3600"/>
            </a:lvl1pPr>
            <a:lvl2pPr lvl="1"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2pPr>
            <a:lvl3pPr lvl="2"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3pPr>
            <a:lvl4pPr lvl="3"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4pPr>
            <a:lvl5pPr lvl="4"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5pPr>
            <a:lvl6pPr lvl="5"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6pPr>
            <a:lvl7pPr lvl="6"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7pPr>
            <a:lvl8pPr lvl="7"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8pPr>
            <a:lvl9pPr lvl="8" algn="ctr">
              <a:lnSpc>
                <a:spcPct val="75000"/>
              </a:lnSpc>
              <a:spcBef>
                <a:spcPts val="0"/>
              </a:spcBef>
              <a:spcAft>
                <a:spcPts val="0"/>
              </a:spcAft>
              <a:buClr>
                <a:schemeClr val="lt1"/>
              </a:buClr>
              <a:buSzPts val="4800"/>
              <a:buFont typeface="Forum"/>
              <a:buNone/>
              <a:defRPr sz="4800">
                <a:latin typeface="Forum"/>
                <a:ea typeface="Forum"/>
                <a:cs typeface="Forum"/>
                <a:sym typeface="Forum"/>
              </a:defRPr>
            </a:lvl9pPr>
          </a:lstStyle>
          <a:p/>
        </p:txBody>
      </p:sp>
      <p:sp>
        <p:nvSpPr>
          <p:cNvPr id="64" name="Google Shape;64;p13"/>
          <p:cNvSpPr txBox="1"/>
          <p:nvPr>
            <p:ph idx="1" type="subTitle"/>
          </p:nvPr>
        </p:nvSpPr>
        <p:spPr>
          <a:xfrm>
            <a:off x="5468675" y="457200"/>
            <a:ext cx="3446700" cy="1342200"/>
          </a:xfrm>
          <a:prstGeom prst="rect">
            <a:avLst/>
          </a:prstGeom>
        </p:spPr>
        <p:txBody>
          <a:bodyPr anchorCtr="0" anchor="t" bIns="0" lIns="0" spcFirstLastPara="1" rIns="0" wrap="square" tIns="0">
            <a:normAutofit/>
          </a:bodyPr>
          <a:lstStyle>
            <a:lvl1pPr lvl="0">
              <a:spcBef>
                <a:spcPts val="0"/>
              </a:spcBef>
              <a:spcAft>
                <a:spcPts val="0"/>
              </a:spcAft>
              <a:buNone/>
              <a:defRPr>
                <a:latin typeface="DM Sans"/>
                <a:ea typeface="DM Sans"/>
                <a:cs typeface="DM Sans"/>
                <a:sym typeface="DM Sans"/>
              </a:defRPr>
            </a:lvl1pPr>
            <a:lvl2pPr lvl="1">
              <a:spcBef>
                <a:spcPts val="1200"/>
              </a:spcBef>
              <a:spcAft>
                <a:spcPts val="0"/>
              </a:spcAft>
              <a:buClr>
                <a:schemeClr val="lt1"/>
              </a:buClr>
              <a:buSzPts val="1400"/>
              <a:buFont typeface="DM Sans"/>
              <a:buNone/>
              <a:defRPr>
                <a:latin typeface="DM Sans"/>
                <a:ea typeface="DM Sans"/>
                <a:cs typeface="DM Sans"/>
                <a:sym typeface="DM Sans"/>
              </a:defRPr>
            </a:lvl2pPr>
            <a:lvl3pPr lvl="2">
              <a:spcBef>
                <a:spcPts val="0"/>
              </a:spcBef>
              <a:spcAft>
                <a:spcPts val="0"/>
              </a:spcAft>
              <a:buClr>
                <a:schemeClr val="lt1"/>
              </a:buClr>
              <a:buSzPts val="1400"/>
              <a:buFont typeface="DM Sans"/>
              <a:buNone/>
              <a:defRPr>
                <a:latin typeface="DM Sans"/>
                <a:ea typeface="DM Sans"/>
                <a:cs typeface="DM Sans"/>
                <a:sym typeface="DM Sans"/>
              </a:defRPr>
            </a:lvl3pPr>
            <a:lvl4pPr lvl="3">
              <a:spcBef>
                <a:spcPts val="0"/>
              </a:spcBef>
              <a:spcAft>
                <a:spcPts val="0"/>
              </a:spcAft>
              <a:buClr>
                <a:schemeClr val="lt1"/>
              </a:buClr>
              <a:buSzPts val="1400"/>
              <a:buFont typeface="DM Sans"/>
              <a:buNone/>
              <a:defRPr>
                <a:latin typeface="DM Sans"/>
                <a:ea typeface="DM Sans"/>
                <a:cs typeface="DM Sans"/>
                <a:sym typeface="DM Sans"/>
              </a:defRPr>
            </a:lvl4pPr>
            <a:lvl5pPr lvl="4">
              <a:spcBef>
                <a:spcPts val="0"/>
              </a:spcBef>
              <a:spcAft>
                <a:spcPts val="0"/>
              </a:spcAft>
              <a:buClr>
                <a:schemeClr val="lt1"/>
              </a:buClr>
              <a:buSzPts val="1400"/>
              <a:buFont typeface="DM Sans"/>
              <a:buNone/>
              <a:defRPr>
                <a:latin typeface="DM Sans"/>
                <a:ea typeface="DM Sans"/>
                <a:cs typeface="DM Sans"/>
                <a:sym typeface="DM Sans"/>
              </a:defRPr>
            </a:lvl5pPr>
            <a:lvl6pPr lvl="5">
              <a:spcBef>
                <a:spcPts val="0"/>
              </a:spcBef>
              <a:spcAft>
                <a:spcPts val="0"/>
              </a:spcAft>
              <a:buClr>
                <a:schemeClr val="lt1"/>
              </a:buClr>
              <a:buSzPts val="1400"/>
              <a:buFont typeface="DM Sans"/>
              <a:buNone/>
              <a:defRPr>
                <a:latin typeface="DM Sans"/>
                <a:ea typeface="DM Sans"/>
                <a:cs typeface="DM Sans"/>
                <a:sym typeface="DM Sans"/>
              </a:defRPr>
            </a:lvl6pPr>
            <a:lvl7pPr lvl="6">
              <a:spcBef>
                <a:spcPts val="0"/>
              </a:spcBef>
              <a:spcAft>
                <a:spcPts val="0"/>
              </a:spcAft>
              <a:buClr>
                <a:schemeClr val="lt1"/>
              </a:buClr>
              <a:buSzPts val="1400"/>
              <a:buFont typeface="DM Sans"/>
              <a:buNone/>
              <a:defRPr>
                <a:latin typeface="DM Sans"/>
                <a:ea typeface="DM Sans"/>
                <a:cs typeface="DM Sans"/>
                <a:sym typeface="DM Sans"/>
              </a:defRPr>
            </a:lvl7pPr>
            <a:lvl8pPr lvl="7">
              <a:spcBef>
                <a:spcPts val="0"/>
              </a:spcBef>
              <a:spcAft>
                <a:spcPts val="0"/>
              </a:spcAft>
              <a:buClr>
                <a:schemeClr val="lt1"/>
              </a:buClr>
              <a:buSzPts val="1400"/>
              <a:buFont typeface="DM Sans"/>
              <a:buNone/>
              <a:defRPr>
                <a:latin typeface="DM Sans"/>
                <a:ea typeface="DM Sans"/>
                <a:cs typeface="DM Sans"/>
                <a:sym typeface="DM Sans"/>
              </a:defRPr>
            </a:lvl8pPr>
            <a:lvl9pPr lvl="8">
              <a:spcBef>
                <a:spcPts val="0"/>
              </a:spcBef>
              <a:spcAft>
                <a:spcPts val="0"/>
              </a:spcAft>
              <a:buClr>
                <a:schemeClr val="lt1"/>
              </a:buClr>
              <a:buSzPts val="1400"/>
              <a:buFont typeface="DM Sans"/>
              <a:buNone/>
              <a:defRPr>
                <a:latin typeface="DM Sans"/>
                <a:ea typeface="DM Sans"/>
                <a:cs typeface="DM Sans"/>
                <a:sym typeface="DM Sans"/>
              </a:defRPr>
            </a:lvl9pPr>
          </a:lstStyle>
          <a:p/>
        </p:txBody>
      </p:sp>
      <p:sp>
        <p:nvSpPr>
          <p:cNvPr id="65" name="Google Shape;65;p13"/>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lt1"/>
                </a:solidFill>
                <a:latin typeface="DM Sans"/>
                <a:ea typeface="DM Sans"/>
                <a:cs typeface="DM Sans"/>
                <a:sym typeface="DM Sans"/>
              </a:rPr>
              <a:t>‹#›</a:t>
            </a:fld>
            <a:endParaRPr sz="700">
              <a:solidFill>
                <a:schemeClr val="lt1"/>
              </a:solidFill>
              <a:latin typeface="DM Sans"/>
              <a:ea typeface="DM Sans"/>
              <a:cs typeface="DM Sans"/>
              <a:sym typeface="DM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CUSTOM">
    <p:spTree>
      <p:nvGrpSpPr>
        <p:cNvPr id="66" name="Shape 66"/>
        <p:cNvGrpSpPr/>
        <p:nvPr/>
      </p:nvGrpSpPr>
      <p:grpSpPr>
        <a:xfrm>
          <a:off x="0" y="0"/>
          <a:ext cx="0" cy="0"/>
          <a:chOff x="0" y="0"/>
          <a:chExt cx="0" cy="0"/>
        </a:xfrm>
      </p:grpSpPr>
      <p:sp>
        <p:nvSpPr>
          <p:cNvPr id="67" name="Google Shape;67;p14"/>
          <p:cNvSpPr txBox="1"/>
          <p:nvPr/>
        </p:nvSpPr>
        <p:spPr>
          <a:xfrm>
            <a:off x="8227900" y="4802400"/>
            <a:ext cx="687600" cy="212100"/>
          </a:xfrm>
          <a:prstGeom prst="rect">
            <a:avLst/>
          </a:prstGeom>
          <a:noFill/>
          <a:ln>
            <a:noFill/>
          </a:ln>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sz="700">
                <a:solidFill>
                  <a:schemeClr val="accent4"/>
                </a:solidFill>
                <a:latin typeface="DM Sans"/>
                <a:ea typeface="DM Sans"/>
                <a:cs typeface="DM Sans"/>
                <a:sym typeface="DM Sans"/>
              </a:rPr>
              <a:t>‹#›</a:t>
            </a:fld>
            <a:endParaRPr sz="700">
              <a:solidFill>
                <a:schemeClr val="accent4"/>
              </a:solidFill>
              <a:latin typeface="DM Sans"/>
              <a:ea typeface="DM Sans"/>
              <a:cs typeface="DM Sans"/>
              <a:sym typeface="DM Sans"/>
            </a:endParaRPr>
          </a:p>
        </p:txBody>
      </p:sp>
      <p:sp>
        <p:nvSpPr>
          <p:cNvPr id="68" name="Google Shape;68;p14"/>
          <p:cNvSpPr/>
          <p:nvPr/>
        </p:nvSpPr>
        <p:spPr>
          <a:xfrm>
            <a:off x="0" y="0"/>
            <a:ext cx="2423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Forum"/>
              <a:ea typeface="Forum"/>
              <a:cs typeface="Forum"/>
              <a:sym typeface="Forum"/>
            </a:endParaRPr>
          </a:p>
        </p:txBody>
      </p:sp>
      <p:sp>
        <p:nvSpPr>
          <p:cNvPr id="69" name="Google Shape;69;p14"/>
          <p:cNvSpPr txBox="1"/>
          <p:nvPr>
            <p:ph idx="1" type="subTitle"/>
          </p:nvPr>
        </p:nvSpPr>
        <p:spPr>
          <a:xfrm>
            <a:off x="228600" y="4891059"/>
            <a:ext cx="1475700" cy="1254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2pPr>
            <a:lvl3pPr lvl="2">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3pPr>
            <a:lvl4pPr lvl="3">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4pPr>
            <a:lvl5pPr lvl="4">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5pPr>
            <a:lvl6pPr lvl="5">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6pPr>
            <a:lvl7pPr lvl="6">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7pPr>
            <a:lvl8pPr lvl="7">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8pPr>
            <a:lvl9pPr lvl="8">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9pPr>
          </a:lstStyle>
          <a:p/>
        </p:txBody>
      </p:sp>
      <p:sp>
        <p:nvSpPr>
          <p:cNvPr id="70" name="Google Shape;70;p14"/>
          <p:cNvSpPr/>
          <p:nvPr>
            <p:ph idx="2" type="pic"/>
          </p:nvPr>
        </p:nvSpPr>
        <p:spPr>
          <a:xfrm>
            <a:off x="232825" y="457275"/>
            <a:ext cx="1966500" cy="1572900"/>
          </a:xfrm>
          <a:prstGeom prst="roundRect">
            <a:avLst>
              <a:gd fmla="val 20306" name="adj"/>
            </a:avLst>
          </a:prstGeom>
          <a:noFill/>
          <a:ln>
            <a:noFill/>
          </a:ln>
        </p:spPr>
      </p:sp>
      <p:sp>
        <p:nvSpPr>
          <p:cNvPr id="71" name="Google Shape;71;p14"/>
          <p:cNvSpPr txBox="1"/>
          <p:nvPr>
            <p:ph type="title"/>
          </p:nvPr>
        </p:nvSpPr>
        <p:spPr>
          <a:xfrm>
            <a:off x="228600" y="2224382"/>
            <a:ext cx="1966500" cy="624600"/>
          </a:xfrm>
          <a:prstGeom prst="rect">
            <a:avLst/>
          </a:prstGeom>
        </p:spPr>
        <p:txBody>
          <a:bodyPr anchorCtr="0" anchor="t" bIns="0" lIns="0" spcFirstLastPara="1" rIns="91425" wrap="square" tIns="91425">
            <a:normAutofit/>
          </a:bodyPr>
          <a:lstStyle>
            <a:lvl1pPr lvl="0" algn="ctr">
              <a:lnSpc>
                <a:spcPct val="60000"/>
              </a:lnSpc>
              <a:spcBef>
                <a:spcPts val="0"/>
              </a:spcBef>
              <a:spcAft>
                <a:spcPts val="0"/>
              </a:spcAft>
              <a:buClr>
                <a:schemeClr val="dk1"/>
              </a:buClr>
              <a:buSzPts val="2800"/>
              <a:buFont typeface="Forum"/>
              <a:buNone/>
              <a:defRPr sz="2800">
                <a:solidFill>
                  <a:schemeClr val="dk1"/>
                </a:solidFill>
              </a:defRPr>
            </a:lvl1pPr>
            <a:lvl2pPr lvl="1"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2pPr>
            <a:lvl3pPr lvl="2"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3pPr>
            <a:lvl4pPr lvl="3"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4pPr>
            <a:lvl5pPr lvl="4"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5pPr>
            <a:lvl6pPr lvl="5"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6pPr>
            <a:lvl7pPr lvl="6"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7pPr>
            <a:lvl8pPr lvl="7"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8pPr>
            <a:lvl9pPr lvl="8" algn="ctr">
              <a:lnSpc>
                <a:spcPct val="60000"/>
              </a:lnSpc>
              <a:spcBef>
                <a:spcPts val="0"/>
              </a:spcBef>
              <a:spcAft>
                <a:spcPts val="0"/>
              </a:spcAft>
              <a:buClr>
                <a:schemeClr val="dk1"/>
              </a:buClr>
              <a:buSzPts val="2800"/>
              <a:buFont typeface="Forum"/>
              <a:buNone/>
              <a:defRPr sz="2800">
                <a:solidFill>
                  <a:schemeClr val="dk1"/>
                </a:solidFill>
                <a:latin typeface="Forum"/>
                <a:ea typeface="Forum"/>
                <a:cs typeface="Forum"/>
                <a:sym typeface="Forum"/>
              </a:defRPr>
            </a:lvl9pPr>
          </a:lstStyle>
          <a:p/>
        </p:txBody>
      </p:sp>
      <p:sp>
        <p:nvSpPr>
          <p:cNvPr id="72" name="Google Shape;72;p14"/>
          <p:cNvSpPr txBox="1"/>
          <p:nvPr>
            <p:ph idx="3" type="title"/>
          </p:nvPr>
        </p:nvSpPr>
        <p:spPr>
          <a:xfrm>
            <a:off x="3063300" y="457123"/>
            <a:ext cx="5852100" cy="587700"/>
          </a:xfrm>
          <a:prstGeom prst="rect">
            <a:avLst/>
          </a:prstGeom>
        </p:spPr>
        <p:txBody>
          <a:bodyPr anchorCtr="0" anchor="t" bIns="91425" lIns="91425" spcFirstLastPara="1" rIns="91425" wrap="square" tIns="0">
            <a:spAutoFit/>
          </a:bodyPr>
          <a:lstStyle>
            <a:lvl1pPr lvl="0" algn="ctr">
              <a:lnSpc>
                <a:spcPct val="70000"/>
              </a:lnSpc>
              <a:spcBef>
                <a:spcPts val="0"/>
              </a:spcBef>
              <a:spcAft>
                <a:spcPts val="0"/>
              </a:spcAft>
              <a:buNone/>
              <a:defRPr sz="2800"/>
            </a:lvl1pPr>
            <a:lvl2pPr lvl="1">
              <a:lnSpc>
                <a:spcPct val="70000"/>
              </a:lnSpc>
              <a:spcBef>
                <a:spcPts val="0"/>
              </a:spcBef>
              <a:spcAft>
                <a:spcPts val="0"/>
              </a:spcAft>
              <a:buNone/>
              <a:defRPr sz="2800"/>
            </a:lvl2pPr>
            <a:lvl3pPr lvl="2">
              <a:lnSpc>
                <a:spcPct val="70000"/>
              </a:lnSpc>
              <a:spcBef>
                <a:spcPts val="0"/>
              </a:spcBef>
              <a:spcAft>
                <a:spcPts val="0"/>
              </a:spcAft>
              <a:buNone/>
              <a:defRPr sz="2800"/>
            </a:lvl3pPr>
            <a:lvl4pPr lvl="3">
              <a:lnSpc>
                <a:spcPct val="70000"/>
              </a:lnSpc>
              <a:spcBef>
                <a:spcPts val="0"/>
              </a:spcBef>
              <a:spcAft>
                <a:spcPts val="0"/>
              </a:spcAft>
              <a:buNone/>
              <a:defRPr sz="2800"/>
            </a:lvl4pPr>
            <a:lvl5pPr lvl="4">
              <a:lnSpc>
                <a:spcPct val="70000"/>
              </a:lnSpc>
              <a:spcBef>
                <a:spcPts val="0"/>
              </a:spcBef>
              <a:spcAft>
                <a:spcPts val="0"/>
              </a:spcAft>
              <a:buNone/>
              <a:defRPr sz="2800"/>
            </a:lvl5pPr>
            <a:lvl6pPr lvl="5">
              <a:lnSpc>
                <a:spcPct val="70000"/>
              </a:lnSpc>
              <a:spcBef>
                <a:spcPts val="0"/>
              </a:spcBef>
              <a:spcAft>
                <a:spcPts val="0"/>
              </a:spcAft>
              <a:buNone/>
              <a:defRPr sz="2800"/>
            </a:lvl6pPr>
            <a:lvl7pPr lvl="6">
              <a:lnSpc>
                <a:spcPct val="70000"/>
              </a:lnSpc>
              <a:spcBef>
                <a:spcPts val="0"/>
              </a:spcBef>
              <a:spcAft>
                <a:spcPts val="0"/>
              </a:spcAft>
              <a:buNone/>
              <a:defRPr sz="2800"/>
            </a:lvl7pPr>
            <a:lvl8pPr lvl="7">
              <a:lnSpc>
                <a:spcPct val="70000"/>
              </a:lnSpc>
              <a:spcBef>
                <a:spcPts val="0"/>
              </a:spcBef>
              <a:spcAft>
                <a:spcPts val="0"/>
              </a:spcAft>
              <a:buNone/>
              <a:defRPr sz="2800"/>
            </a:lvl8pPr>
            <a:lvl9pPr lvl="8">
              <a:lnSpc>
                <a:spcPct val="70000"/>
              </a:lnSpc>
              <a:spcBef>
                <a:spcPts val="0"/>
              </a:spcBef>
              <a:spcAft>
                <a:spcPts val="0"/>
              </a:spcAft>
              <a:buNone/>
              <a:defRPr sz="2800"/>
            </a:lvl9pPr>
          </a:lstStyle>
          <a:p/>
        </p:txBody>
      </p:sp>
      <p:sp>
        <p:nvSpPr>
          <p:cNvPr id="73" name="Google Shape;73;p14"/>
          <p:cNvSpPr txBox="1"/>
          <p:nvPr>
            <p:ph idx="4" type="subTitle"/>
          </p:nvPr>
        </p:nvSpPr>
        <p:spPr>
          <a:xfrm>
            <a:off x="7160650" y="3105434"/>
            <a:ext cx="1754700" cy="385800"/>
          </a:xfrm>
          <a:prstGeom prst="rect">
            <a:avLst/>
          </a:prstGeom>
        </p:spPr>
        <p:txBody>
          <a:bodyPr anchorCtr="0" anchor="t" bIns="91425" lIns="0" spcFirstLastPara="1" rIns="91425" wrap="square" tIns="91425">
            <a:normAutofit/>
          </a:bodyPr>
          <a:lstStyle>
            <a:lvl1pPr lvl="0">
              <a:lnSpc>
                <a:spcPct val="65000"/>
              </a:lnSpc>
              <a:spcBef>
                <a:spcPts val="0"/>
              </a:spcBef>
              <a:spcAft>
                <a:spcPts val="0"/>
              </a:spcAft>
              <a:buNone/>
              <a:defRPr/>
            </a:lvl1pPr>
            <a:lvl2pPr lvl="1">
              <a:lnSpc>
                <a:spcPct val="65000"/>
              </a:lnSpc>
              <a:spcBef>
                <a:spcPts val="1200"/>
              </a:spcBef>
              <a:spcAft>
                <a:spcPts val="0"/>
              </a:spcAft>
              <a:buClr>
                <a:schemeClr val="lt1"/>
              </a:buClr>
              <a:buSzPts val="1800"/>
              <a:buFont typeface="Forum"/>
              <a:buNone/>
              <a:defRPr sz="1800">
                <a:latin typeface="Forum"/>
                <a:ea typeface="Forum"/>
                <a:cs typeface="Forum"/>
                <a:sym typeface="Forum"/>
              </a:defRPr>
            </a:lvl2pPr>
            <a:lvl3pPr lvl="2">
              <a:lnSpc>
                <a:spcPct val="65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65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65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65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65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65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65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4" name="Google Shape;74;p14"/>
          <p:cNvSpPr txBox="1"/>
          <p:nvPr>
            <p:ph idx="5" type="body"/>
          </p:nvPr>
        </p:nvSpPr>
        <p:spPr>
          <a:xfrm>
            <a:off x="7160650" y="3664400"/>
            <a:ext cx="1572000" cy="10194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75" name="Google Shape;75;p14"/>
          <p:cNvSpPr txBox="1"/>
          <p:nvPr>
            <p:ph idx="6" type="subTitle"/>
          </p:nvPr>
        </p:nvSpPr>
        <p:spPr>
          <a:xfrm>
            <a:off x="5056850" y="3105434"/>
            <a:ext cx="1572000" cy="385800"/>
          </a:xfrm>
          <a:prstGeom prst="rect">
            <a:avLst/>
          </a:prstGeom>
        </p:spPr>
        <p:txBody>
          <a:bodyPr anchorCtr="0" anchor="t" bIns="91425" lIns="0" spcFirstLastPara="1" rIns="91425" wrap="square" tIns="91425">
            <a:normAutofit/>
          </a:bodyPr>
          <a:lstStyle>
            <a:lvl1pPr lvl="0">
              <a:lnSpc>
                <a:spcPct val="65000"/>
              </a:lnSpc>
              <a:spcBef>
                <a:spcPts val="0"/>
              </a:spcBef>
              <a:spcAft>
                <a:spcPts val="0"/>
              </a:spcAft>
              <a:buNone/>
              <a:defRPr/>
            </a:lvl1pPr>
            <a:lvl2pPr lvl="1">
              <a:lnSpc>
                <a:spcPct val="65000"/>
              </a:lnSpc>
              <a:spcBef>
                <a:spcPts val="1200"/>
              </a:spcBef>
              <a:spcAft>
                <a:spcPts val="0"/>
              </a:spcAft>
              <a:buClr>
                <a:schemeClr val="lt1"/>
              </a:buClr>
              <a:buSzPts val="1800"/>
              <a:buFont typeface="Forum"/>
              <a:buNone/>
              <a:defRPr sz="1800">
                <a:latin typeface="Forum"/>
                <a:ea typeface="Forum"/>
                <a:cs typeface="Forum"/>
                <a:sym typeface="Forum"/>
              </a:defRPr>
            </a:lvl2pPr>
            <a:lvl3pPr lvl="2">
              <a:lnSpc>
                <a:spcPct val="65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65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65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65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65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65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65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6" name="Google Shape;76;p14"/>
          <p:cNvSpPr txBox="1"/>
          <p:nvPr>
            <p:ph idx="7" type="body"/>
          </p:nvPr>
        </p:nvSpPr>
        <p:spPr>
          <a:xfrm>
            <a:off x="5056850" y="3664400"/>
            <a:ext cx="1572000" cy="1019400"/>
          </a:xfrm>
          <a:prstGeom prst="rect">
            <a:avLst/>
          </a:prstGeom>
        </p:spPr>
        <p:txBody>
          <a:bodyPr anchorCtr="0" anchor="t" bIns="0" lIns="0" spcFirstLastPara="1" rIns="0" wrap="square" tIns="0">
            <a:norm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77" name="Google Shape;77;p14"/>
          <p:cNvSpPr txBox="1"/>
          <p:nvPr>
            <p:ph idx="8" type="subTitle"/>
          </p:nvPr>
        </p:nvSpPr>
        <p:spPr>
          <a:xfrm>
            <a:off x="3141475" y="3105434"/>
            <a:ext cx="1572000" cy="385800"/>
          </a:xfrm>
          <a:prstGeom prst="rect">
            <a:avLst/>
          </a:prstGeom>
        </p:spPr>
        <p:txBody>
          <a:bodyPr anchorCtr="0" anchor="t" bIns="91425" lIns="0" spcFirstLastPara="1" rIns="91425" wrap="square" tIns="91425">
            <a:normAutofit/>
          </a:bodyPr>
          <a:lstStyle>
            <a:lvl1pPr lvl="0">
              <a:lnSpc>
                <a:spcPct val="65000"/>
              </a:lnSpc>
              <a:spcBef>
                <a:spcPts val="0"/>
              </a:spcBef>
              <a:spcAft>
                <a:spcPts val="0"/>
              </a:spcAft>
              <a:buNone/>
              <a:defRPr/>
            </a:lvl1pPr>
            <a:lvl2pPr lvl="1">
              <a:lnSpc>
                <a:spcPct val="65000"/>
              </a:lnSpc>
              <a:spcBef>
                <a:spcPts val="1200"/>
              </a:spcBef>
              <a:spcAft>
                <a:spcPts val="0"/>
              </a:spcAft>
              <a:buClr>
                <a:schemeClr val="lt1"/>
              </a:buClr>
              <a:buSzPts val="1800"/>
              <a:buFont typeface="Forum"/>
              <a:buNone/>
              <a:defRPr sz="1800">
                <a:latin typeface="Forum"/>
                <a:ea typeface="Forum"/>
                <a:cs typeface="Forum"/>
                <a:sym typeface="Forum"/>
              </a:defRPr>
            </a:lvl2pPr>
            <a:lvl3pPr lvl="2">
              <a:lnSpc>
                <a:spcPct val="65000"/>
              </a:lnSpc>
              <a:spcBef>
                <a:spcPts val="0"/>
              </a:spcBef>
              <a:spcAft>
                <a:spcPts val="0"/>
              </a:spcAft>
              <a:buClr>
                <a:schemeClr val="lt1"/>
              </a:buClr>
              <a:buSzPts val="1800"/>
              <a:buFont typeface="Forum"/>
              <a:buNone/>
              <a:defRPr sz="1800">
                <a:latin typeface="Forum"/>
                <a:ea typeface="Forum"/>
                <a:cs typeface="Forum"/>
                <a:sym typeface="Forum"/>
              </a:defRPr>
            </a:lvl3pPr>
            <a:lvl4pPr lvl="3">
              <a:lnSpc>
                <a:spcPct val="65000"/>
              </a:lnSpc>
              <a:spcBef>
                <a:spcPts val="0"/>
              </a:spcBef>
              <a:spcAft>
                <a:spcPts val="0"/>
              </a:spcAft>
              <a:buClr>
                <a:schemeClr val="lt1"/>
              </a:buClr>
              <a:buSzPts val="1800"/>
              <a:buFont typeface="Forum"/>
              <a:buNone/>
              <a:defRPr sz="1800">
                <a:latin typeface="Forum"/>
                <a:ea typeface="Forum"/>
                <a:cs typeface="Forum"/>
                <a:sym typeface="Forum"/>
              </a:defRPr>
            </a:lvl4pPr>
            <a:lvl5pPr lvl="4">
              <a:lnSpc>
                <a:spcPct val="65000"/>
              </a:lnSpc>
              <a:spcBef>
                <a:spcPts val="0"/>
              </a:spcBef>
              <a:spcAft>
                <a:spcPts val="0"/>
              </a:spcAft>
              <a:buClr>
                <a:schemeClr val="lt1"/>
              </a:buClr>
              <a:buSzPts val="1800"/>
              <a:buFont typeface="Forum"/>
              <a:buNone/>
              <a:defRPr sz="1800">
                <a:latin typeface="Forum"/>
                <a:ea typeface="Forum"/>
                <a:cs typeface="Forum"/>
                <a:sym typeface="Forum"/>
              </a:defRPr>
            </a:lvl5pPr>
            <a:lvl6pPr lvl="5">
              <a:lnSpc>
                <a:spcPct val="65000"/>
              </a:lnSpc>
              <a:spcBef>
                <a:spcPts val="0"/>
              </a:spcBef>
              <a:spcAft>
                <a:spcPts val="0"/>
              </a:spcAft>
              <a:buClr>
                <a:schemeClr val="lt1"/>
              </a:buClr>
              <a:buSzPts val="1800"/>
              <a:buFont typeface="Forum"/>
              <a:buNone/>
              <a:defRPr sz="1800">
                <a:latin typeface="Forum"/>
                <a:ea typeface="Forum"/>
                <a:cs typeface="Forum"/>
                <a:sym typeface="Forum"/>
              </a:defRPr>
            </a:lvl6pPr>
            <a:lvl7pPr lvl="6">
              <a:lnSpc>
                <a:spcPct val="65000"/>
              </a:lnSpc>
              <a:spcBef>
                <a:spcPts val="0"/>
              </a:spcBef>
              <a:spcAft>
                <a:spcPts val="0"/>
              </a:spcAft>
              <a:buClr>
                <a:schemeClr val="lt1"/>
              </a:buClr>
              <a:buSzPts val="1800"/>
              <a:buFont typeface="Forum"/>
              <a:buNone/>
              <a:defRPr sz="1800">
                <a:latin typeface="Forum"/>
                <a:ea typeface="Forum"/>
                <a:cs typeface="Forum"/>
                <a:sym typeface="Forum"/>
              </a:defRPr>
            </a:lvl7pPr>
            <a:lvl8pPr lvl="7">
              <a:lnSpc>
                <a:spcPct val="65000"/>
              </a:lnSpc>
              <a:spcBef>
                <a:spcPts val="0"/>
              </a:spcBef>
              <a:spcAft>
                <a:spcPts val="0"/>
              </a:spcAft>
              <a:buClr>
                <a:schemeClr val="lt1"/>
              </a:buClr>
              <a:buSzPts val="1800"/>
              <a:buFont typeface="Forum"/>
              <a:buNone/>
              <a:defRPr sz="1800">
                <a:latin typeface="Forum"/>
                <a:ea typeface="Forum"/>
                <a:cs typeface="Forum"/>
                <a:sym typeface="Forum"/>
              </a:defRPr>
            </a:lvl8pPr>
            <a:lvl9pPr lvl="8">
              <a:lnSpc>
                <a:spcPct val="65000"/>
              </a:lnSpc>
              <a:spcBef>
                <a:spcPts val="0"/>
              </a:spcBef>
              <a:spcAft>
                <a:spcPts val="0"/>
              </a:spcAft>
              <a:buClr>
                <a:schemeClr val="lt1"/>
              </a:buClr>
              <a:buSzPts val="1800"/>
              <a:buFont typeface="Forum"/>
              <a:buNone/>
              <a:defRPr sz="1800">
                <a:latin typeface="Forum"/>
                <a:ea typeface="Forum"/>
                <a:cs typeface="Forum"/>
                <a:sym typeface="Forum"/>
              </a:defRPr>
            </a:lvl9pPr>
          </a:lstStyle>
          <a:p/>
        </p:txBody>
      </p:sp>
      <p:sp>
        <p:nvSpPr>
          <p:cNvPr id="78" name="Google Shape;78;p14"/>
          <p:cNvSpPr txBox="1"/>
          <p:nvPr>
            <p:ph idx="9" type="body"/>
          </p:nvPr>
        </p:nvSpPr>
        <p:spPr>
          <a:xfrm>
            <a:off x="3141475" y="3664400"/>
            <a:ext cx="1572000" cy="1019400"/>
          </a:xfrm>
          <a:prstGeom prst="rect">
            <a:avLst/>
          </a:prstGeom>
        </p:spPr>
        <p:txBody>
          <a:bodyPr anchorCtr="0" anchor="t" bIns="0" lIns="0" spcFirstLastPara="1" rIns="0" wrap="square" tIns="0">
            <a:normAutofit/>
          </a:bodyPr>
          <a:lstStyle>
            <a:lvl1pPr indent="-292100" lvl="0" marL="457200">
              <a:spcBef>
                <a:spcPts val="0"/>
              </a:spcBef>
              <a:spcAft>
                <a:spcPts val="0"/>
              </a:spcAft>
              <a:buClr>
                <a:schemeClr val="lt1"/>
              </a:buClr>
              <a:buSzPts val="1000"/>
              <a:buFont typeface="DM Sans"/>
              <a:buChar char="●"/>
              <a:defRPr/>
            </a:lvl1pPr>
            <a:lvl2pPr indent="-292100" lvl="1" marL="914400">
              <a:spcBef>
                <a:spcPts val="0"/>
              </a:spcBef>
              <a:spcAft>
                <a:spcPts val="0"/>
              </a:spcAft>
              <a:buClr>
                <a:schemeClr val="lt1"/>
              </a:buClr>
              <a:buSzPts val="1000"/>
              <a:buFont typeface="DM Sans"/>
              <a:buChar char="○"/>
              <a:defRPr/>
            </a:lvl2pPr>
            <a:lvl3pPr indent="-292100" lvl="2" marL="1371600">
              <a:spcBef>
                <a:spcPts val="0"/>
              </a:spcBef>
              <a:spcAft>
                <a:spcPts val="0"/>
              </a:spcAft>
              <a:buClr>
                <a:schemeClr val="lt1"/>
              </a:buClr>
              <a:buSzPts val="1000"/>
              <a:buFont typeface="DM Sans"/>
              <a:buChar char="■"/>
              <a:defRPr/>
            </a:lvl3pPr>
            <a:lvl4pPr indent="-292100" lvl="3" marL="1828800">
              <a:spcBef>
                <a:spcPts val="0"/>
              </a:spcBef>
              <a:spcAft>
                <a:spcPts val="0"/>
              </a:spcAft>
              <a:buClr>
                <a:schemeClr val="lt1"/>
              </a:buClr>
              <a:buSzPts val="1000"/>
              <a:buFont typeface="DM Sans"/>
              <a:buChar char="●"/>
              <a:defRPr/>
            </a:lvl4pPr>
            <a:lvl5pPr indent="-292100" lvl="4" marL="2286000">
              <a:spcBef>
                <a:spcPts val="0"/>
              </a:spcBef>
              <a:spcAft>
                <a:spcPts val="0"/>
              </a:spcAft>
              <a:buClr>
                <a:schemeClr val="lt1"/>
              </a:buClr>
              <a:buSzPts val="1000"/>
              <a:buFont typeface="DM Sans"/>
              <a:buChar char="○"/>
              <a:defRPr/>
            </a:lvl5pPr>
            <a:lvl6pPr indent="-292100" lvl="5" marL="2743200">
              <a:spcBef>
                <a:spcPts val="0"/>
              </a:spcBef>
              <a:spcAft>
                <a:spcPts val="0"/>
              </a:spcAft>
              <a:buClr>
                <a:schemeClr val="lt1"/>
              </a:buClr>
              <a:buSzPts val="1000"/>
              <a:buFont typeface="DM Sans"/>
              <a:buChar char="■"/>
              <a:defRPr/>
            </a:lvl6pPr>
            <a:lvl7pPr indent="-292100" lvl="6" marL="3200400">
              <a:spcBef>
                <a:spcPts val="0"/>
              </a:spcBef>
              <a:spcAft>
                <a:spcPts val="0"/>
              </a:spcAft>
              <a:buClr>
                <a:schemeClr val="lt1"/>
              </a:buClr>
              <a:buSzPts val="1000"/>
              <a:buFont typeface="DM Sans"/>
              <a:buChar char="●"/>
              <a:defRPr/>
            </a:lvl7pPr>
            <a:lvl8pPr indent="-292100" lvl="7" marL="3657600">
              <a:spcBef>
                <a:spcPts val="0"/>
              </a:spcBef>
              <a:spcAft>
                <a:spcPts val="0"/>
              </a:spcAft>
              <a:buClr>
                <a:schemeClr val="lt1"/>
              </a:buClr>
              <a:buSzPts val="1000"/>
              <a:buFont typeface="DM Sans"/>
              <a:buChar char="○"/>
              <a:defRPr/>
            </a:lvl8pPr>
            <a:lvl9pPr indent="-292100" lvl="8" marL="4114800">
              <a:spcBef>
                <a:spcPts val="0"/>
              </a:spcBef>
              <a:spcAft>
                <a:spcPts val="0"/>
              </a:spcAft>
              <a:buClr>
                <a:schemeClr val="lt1"/>
              </a:buClr>
              <a:buSzPts val="1000"/>
              <a:buFont typeface="DM Sans"/>
              <a:buChar char="■"/>
              <a:defRPr/>
            </a:lvl9pPr>
          </a:lstStyle>
          <a:p/>
        </p:txBody>
      </p:sp>
      <p:sp>
        <p:nvSpPr>
          <p:cNvPr id="79" name="Google Shape;79;p14"/>
          <p:cNvSpPr txBox="1"/>
          <p:nvPr>
            <p:ph idx="13" type="subTitle"/>
          </p:nvPr>
        </p:nvSpPr>
        <p:spPr>
          <a:xfrm>
            <a:off x="232825" y="3337900"/>
            <a:ext cx="1966500" cy="13458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dk1"/>
                </a:solidFill>
                <a:latin typeface="DM Sans"/>
                <a:ea typeface="DM Sans"/>
                <a:cs typeface="DM Sans"/>
                <a:sym typeface="DM Sans"/>
              </a:defRPr>
            </a:lvl1pPr>
            <a:lvl2pPr lvl="1" algn="ctr">
              <a:spcBef>
                <a:spcPts val="1200"/>
              </a:spcBef>
              <a:spcAft>
                <a:spcPts val="0"/>
              </a:spcAft>
              <a:buClr>
                <a:schemeClr val="dk1"/>
              </a:buClr>
              <a:buSzPts val="1000"/>
              <a:buFont typeface="DM Sans"/>
              <a:buNone/>
              <a:defRPr sz="1000">
                <a:solidFill>
                  <a:schemeClr val="dk1"/>
                </a:solidFill>
                <a:latin typeface="DM Sans"/>
                <a:ea typeface="DM Sans"/>
                <a:cs typeface="DM Sans"/>
                <a:sym typeface="DM Sans"/>
              </a:defRPr>
            </a:lvl2pPr>
            <a:lvl3pPr lvl="2"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3pPr>
            <a:lvl4pPr lvl="3"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4pPr>
            <a:lvl5pPr lvl="4"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5pPr>
            <a:lvl6pPr lvl="5"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6pPr>
            <a:lvl7pPr lvl="6"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7pPr>
            <a:lvl8pPr lvl="7"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8pPr>
            <a:lvl9pPr lvl="8" algn="ctr">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1.jpg"/><Relationship Id="rId5"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ctrTitle"/>
          </p:nvPr>
        </p:nvSpPr>
        <p:spPr>
          <a:xfrm>
            <a:off x="419025" y="2407225"/>
            <a:ext cx="8520600" cy="222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480"/>
              <a:t>Urbanization Trends in Kitui County Economic Investment Zones (EIZs)</a:t>
            </a:r>
            <a:endParaRPr sz="4480"/>
          </a:p>
          <a:p>
            <a:pPr indent="0" lvl="0" marL="0" rtl="0" algn="ctr">
              <a:spcBef>
                <a:spcPts val="0"/>
              </a:spcBef>
              <a:spcAft>
                <a:spcPts val="0"/>
              </a:spcAft>
              <a:buSzPts val="990"/>
              <a:buNone/>
            </a:pPr>
            <a:r>
              <a:t/>
            </a:r>
            <a:endParaRPr sz="1580"/>
          </a:p>
          <a:p>
            <a:pPr indent="0" lvl="0" marL="0" rtl="0" algn="ctr">
              <a:spcBef>
                <a:spcPts val="0"/>
              </a:spcBef>
              <a:spcAft>
                <a:spcPts val="0"/>
              </a:spcAft>
              <a:buSzPts val="990"/>
              <a:buNone/>
            </a:pPr>
            <a:r>
              <a:t/>
            </a:r>
            <a:endParaRPr sz="1580"/>
          </a:p>
          <a:p>
            <a:pPr indent="0" lvl="0" marL="0" rtl="0" algn="ctr">
              <a:spcBef>
                <a:spcPts val="0"/>
              </a:spcBef>
              <a:spcAft>
                <a:spcPts val="0"/>
              </a:spcAft>
              <a:buSzPts val="990"/>
              <a:buNone/>
            </a:pPr>
            <a:r>
              <a:rPr i="1" lang="en" sz="2080"/>
              <a:t>Enhancing Revenue Through Strategic Urban Development</a:t>
            </a:r>
            <a:endParaRPr i="1" sz="2080"/>
          </a:p>
        </p:txBody>
      </p:sp>
      <p:sp>
        <p:nvSpPr>
          <p:cNvPr id="85" name="Google Shape;85;p15"/>
          <p:cNvSpPr txBox="1"/>
          <p:nvPr>
            <p:ph idx="1" type="subTitle"/>
          </p:nvPr>
        </p:nvSpPr>
        <p:spPr>
          <a:xfrm>
            <a:off x="311700" y="1260325"/>
            <a:ext cx="85206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COUNTY GOVERNMENT OF KITUI</a:t>
            </a:r>
            <a:endParaRPr/>
          </a:p>
          <a:p>
            <a:pPr indent="0" lvl="0" marL="0" rtl="0" algn="ctr">
              <a:spcBef>
                <a:spcPts val="0"/>
              </a:spcBef>
              <a:spcAft>
                <a:spcPts val="0"/>
              </a:spcAft>
              <a:buNone/>
            </a:pPr>
            <a:r>
              <a:rPr lang="en"/>
              <a:t>MINISTRY OF LANDS, HOUSING AND URBAN DEVELOPMENT</a:t>
            </a:r>
            <a:endParaRPr/>
          </a:p>
        </p:txBody>
      </p:sp>
      <p:pic>
        <p:nvPicPr>
          <p:cNvPr id="86" name="Google Shape;86;p15"/>
          <p:cNvPicPr preferRelativeResize="0"/>
          <p:nvPr/>
        </p:nvPicPr>
        <p:blipFill>
          <a:blip r:embed="rId3">
            <a:alphaModFix/>
          </a:blip>
          <a:stretch>
            <a:fillRect/>
          </a:stretch>
        </p:blipFill>
        <p:spPr>
          <a:xfrm>
            <a:off x="4065475" y="50075"/>
            <a:ext cx="1152525" cy="1104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0" y="0"/>
            <a:ext cx="91440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Introduction</a:t>
            </a:r>
            <a:endParaRPr/>
          </a:p>
        </p:txBody>
      </p:sp>
      <p:sp>
        <p:nvSpPr>
          <p:cNvPr id="92" name="Google Shape;92;p16"/>
          <p:cNvSpPr txBox="1"/>
          <p:nvPr>
            <p:ph idx="1" type="body"/>
          </p:nvPr>
        </p:nvSpPr>
        <p:spPr>
          <a:xfrm>
            <a:off x="311700" y="644275"/>
            <a:ext cx="8520600" cy="41850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Economic Investment Zones (EIZs) have proven globally to be powerful engines for economic transformation. In Kitui County, these zones are strategically designed to spur growth through targeted investments, infrastructure development, and job creation. The success of Special Economic Zones worldwide – like Shenzhen's remarkable rise from a fishing village to a $400 billion economy – demonstrates their potential when properly implemented.</a:t>
            </a:r>
            <a:endParaRPr/>
          </a:p>
          <a:p>
            <a:pPr indent="-325755" lvl="0" marL="457200" rtl="0" algn="l">
              <a:spcBef>
                <a:spcPts val="0"/>
              </a:spcBef>
              <a:spcAft>
                <a:spcPts val="0"/>
              </a:spcAft>
              <a:buSzPct val="100000"/>
              <a:buChar char="❖"/>
            </a:pPr>
            <a:r>
              <a:rPr lang="en"/>
              <a:t>Kitui's development blueprint, KIVEST 2025, establishes six strategic EIZs: Kyuso-Mumoni-Tseikuru, Mui Basin, Mwingi Town, Kitui Town, Kanyangi-Kanyonyoo, and Mutomo-Ikutha clusters. Each zone offers unique advantages, from mineral resources to transport corridors, forming an integrated framework for county-wide progress.</a:t>
            </a:r>
            <a:endParaRPr/>
          </a:p>
          <a:p>
            <a:pPr indent="-325755" lvl="0" marL="457200" rtl="0" algn="l">
              <a:spcBef>
                <a:spcPts val="0"/>
              </a:spcBef>
              <a:spcAft>
                <a:spcPts val="0"/>
              </a:spcAft>
              <a:buSzPct val="100000"/>
              <a:buChar char="❖"/>
            </a:pPr>
            <a:r>
              <a:rPr lang="en"/>
              <a:t>The critical link between EIZs and revenue generation is undeniable. Urbanization driven by these zones expands the tax base through business permits, property rates, and trade levies. As economic activity concentrates in these areas, property values rise and new revenue streams emerge. Nobel economist Paul Krugman's insight that "SEZs act as economic laboratories" perfectly captures their transformative potential.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Kitui County Overview</a:t>
            </a:r>
            <a:endParaRPr/>
          </a:p>
        </p:txBody>
      </p:sp>
      <p:sp>
        <p:nvSpPr>
          <p:cNvPr id="98" name="Google Shape;98;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 name="Google Shape;99;p17"/>
          <p:cNvPicPr preferRelativeResize="0"/>
          <p:nvPr/>
        </p:nvPicPr>
        <p:blipFill>
          <a:blip r:embed="rId3">
            <a:alphaModFix/>
          </a:blip>
          <a:stretch>
            <a:fillRect/>
          </a:stretch>
        </p:blipFill>
        <p:spPr>
          <a:xfrm>
            <a:off x="273925" y="658575"/>
            <a:ext cx="2987126" cy="4167326"/>
          </a:xfrm>
          <a:prstGeom prst="rect">
            <a:avLst/>
          </a:prstGeom>
          <a:noFill/>
          <a:ln cap="flat" cmpd="sng">
            <a:solidFill>
              <a:srgbClr val="000000"/>
            </a:solidFill>
            <a:prstDash val="solid"/>
            <a:miter lim="8000"/>
            <a:headEnd len="sm" w="sm" type="none"/>
            <a:tailEnd len="sm" w="sm" type="none"/>
          </a:ln>
        </p:spPr>
      </p:pic>
      <p:pic>
        <p:nvPicPr>
          <p:cNvPr id="100" name="Google Shape;100;p17"/>
          <p:cNvPicPr preferRelativeResize="0"/>
          <p:nvPr/>
        </p:nvPicPr>
        <p:blipFill>
          <a:blip r:embed="rId4">
            <a:alphaModFix/>
          </a:blip>
          <a:stretch>
            <a:fillRect/>
          </a:stretch>
        </p:blipFill>
        <p:spPr>
          <a:xfrm>
            <a:off x="3230550" y="658575"/>
            <a:ext cx="2987126" cy="4227626"/>
          </a:xfrm>
          <a:prstGeom prst="rect">
            <a:avLst/>
          </a:prstGeom>
          <a:noFill/>
          <a:ln cap="flat" cmpd="sng">
            <a:solidFill>
              <a:srgbClr val="000000"/>
            </a:solidFill>
            <a:prstDash val="solid"/>
            <a:miter lim="8000"/>
            <a:headEnd len="sm" w="sm" type="none"/>
            <a:tailEnd len="sm" w="sm" type="none"/>
          </a:ln>
        </p:spPr>
      </p:pic>
      <p:pic>
        <p:nvPicPr>
          <p:cNvPr id="101" name="Google Shape;101;p17"/>
          <p:cNvPicPr preferRelativeResize="0"/>
          <p:nvPr/>
        </p:nvPicPr>
        <p:blipFill>
          <a:blip r:embed="rId5">
            <a:alphaModFix/>
          </a:blip>
          <a:stretch>
            <a:fillRect/>
          </a:stretch>
        </p:blipFill>
        <p:spPr>
          <a:xfrm>
            <a:off x="6174975" y="707400"/>
            <a:ext cx="2814950" cy="4118501"/>
          </a:xfrm>
          <a:prstGeom prst="rect">
            <a:avLst/>
          </a:prstGeom>
          <a:noFill/>
          <a:ln>
            <a:noFill/>
          </a:ln>
        </p:spPr>
      </p:pic>
      <p:sp>
        <p:nvSpPr>
          <p:cNvPr id="102" name="Google Shape;102;p17"/>
          <p:cNvSpPr txBox="1"/>
          <p:nvPr/>
        </p:nvSpPr>
        <p:spPr>
          <a:xfrm>
            <a:off x="230550" y="4789500"/>
            <a:ext cx="3000000" cy="35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000"/>
              </a:spcAft>
              <a:buNone/>
            </a:pPr>
            <a:r>
              <a:rPr i="1" lang="en" sz="1100">
                <a:latin typeface="Tahoma"/>
                <a:ea typeface="Tahoma"/>
                <a:cs typeface="Tahoma"/>
                <a:sym typeface="Tahoma"/>
              </a:rPr>
              <a:t>Map 1: Kitui County at national context</a:t>
            </a:r>
            <a:endParaRPr/>
          </a:p>
        </p:txBody>
      </p:sp>
      <p:sp>
        <p:nvSpPr>
          <p:cNvPr id="103" name="Google Shape;103;p17"/>
          <p:cNvSpPr txBox="1"/>
          <p:nvPr/>
        </p:nvSpPr>
        <p:spPr>
          <a:xfrm>
            <a:off x="2943450" y="4789500"/>
            <a:ext cx="3257100" cy="35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000"/>
              </a:spcAft>
              <a:buNone/>
            </a:pPr>
            <a:r>
              <a:rPr i="1" lang="en" sz="1100">
                <a:latin typeface="Tahoma"/>
                <a:ea typeface="Tahoma"/>
                <a:cs typeface="Tahoma"/>
                <a:sym typeface="Tahoma"/>
              </a:rPr>
              <a:t>Map 2: Kitui County Economic Investment Zones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6 </a:t>
            </a:r>
            <a:r>
              <a:rPr lang="en"/>
              <a:t>EIZ Zones</a:t>
            </a:r>
            <a:endParaRPr/>
          </a:p>
        </p:txBody>
      </p:sp>
      <p:sp>
        <p:nvSpPr>
          <p:cNvPr id="109" name="Google Shape;109;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lnSpc>
                <a:spcPct val="200000"/>
              </a:lnSpc>
              <a:spcBef>
                <a:spcPts val="0"/>
              </a:spcBef>
              <a:spcAft>
                <a:spcPts val="0"/>
              </a:spcAft>
              <a:buSzPts val="1800"/>
              <a:buAutoNum type="arabicPeriod"/>
            </a:pPr>
            <a:r>
              <a:rPr lang="en"/>
              <a:t>Kitui Town &amp; Environs</a:t>
            </a:r>
            <a:endParaRPr/>
          </a:p>
          <a:p>
            <a:pPr indent="-342900" lvl="0" marL="457200" rtl="0" algn="l">
              <a:lnSpc>
                <a:spcPct val="200000"/>
              </a:lnSpc>
              <a:spcBef>
                <a:spcPts val="0"/>
              </a:spcBef>
              <a:spcAft>
                <a:spcPts val="0"/>
              </a:spcAft>
              <a:buSzPts val="1800"/>
              <a:buAutoNum type="arabicPeriod"/>
            </a:pPr>
            <a:r>
              <a:rPr lang="en"/>
              <a:t>Mwingi Town &amp; Environs</a:t>
            </a:r>
            <a:endParaRPr/>
          </a:p>
          <a:p>
            <a:pPr indent="-342900" lvl="0" marL="457200" rtl="0" algn="l">
              <a:lnSpc>
                <a:spcPct val="200000"/>
              </a:lnSpc>
              <a:spcBef>
                <a:spcPts val="0"/>
              </a:spcBef>
              <a:spcAft>
                <a:spcPts val="0"/>
              </a:spcAft>
              <a:buSzPts val="1800"/>
              <a:buAutoNum type="arabicPeriod"/>
            </a:pPr>
            <a:r>
              <a:rPr lang="en"/>
              <a:t>Kyuso-Mumoni-Tseikuru-Tharaka</a:t>
            </a:r>
            <a:endParaRPr/>
          </a:p>
          <a:p>
            <a:pPr indent="-342900" lvl="0" marL="457200" rtl="0" algn="l">
              <a:lnSpc>
                <a:spcPct val="200000"/>
              </a:lnSpc>
              <a:spcBef>
                <a:spcPts val="0"/>
              </a:spcBef>
              <a:spcAft>
                <a:spcPts val="0"/>
              </a:spcAft>
              <a:buSzPts val="1800"/>
              <a:buAutoNum type="arabicPeriod"/>
            </a:pPr>
            <a:r>
              <a:rPr lang="en"/>
              <a:t>Mui Basin</a:t>
            </a:r>
            <a:endParaRPr/>
          </a:p>
          <a:p>
            <a:pPr indent="-342900" lvl="0" marL="457200" rtl="0" algn="l">
              <a:lnSpc>
                <a:spcPct val="200000"/>
              </a:lnSpc>
              <a:spcBef>
                <a:spcPts val="0"/>
              </a:spcBef>
              <a:spcAft>
                <a:spcPts val="0"/>
              </a:spcAft>
              <a:buSzPts val="1800"/>
              <a:buAutoNum type="arabicPeriod"/>
            </a:pPr>
            <a:r>
              <a:rPr lang="en"/>
              <a:t>Mutomo-Ikutha-Kanziko-Athi</a:t>
            </a:r>
            <a:endParaRPr/>
          </a:p>
          <a:p>
            <a:pPr indent="-342900" lvl="0" marL="457200" rtl="0" algn="l">
              <a:lnSpc>
                <a:spcPct val="200000"/>
              </a:lnSpc>
              <a:spcBef>
                <a:spcPts val="0"/>
              </a:spcBef>
              <a:spcAft>
                <a:spcPts val="0"/>
              </a:spcAft>
              <a:buSzPts val="1800"/>
              <a:buAutoNum type="arabicPeriod"/>
            </a:pPr>
            <a:r>
              <a:rPr lang="en"/>
              <a:t>Kanyangi-Kanyonyoo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311700" y="0"/>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40"/>
              <a:t>1. </a:t>
            </a:r>
            <a:r>
              <a:rPr lang="en" sz="2940"/>
              <a:t>KITUI TOWN AND ENVIRONS EIZ URBANIZATION TRENDS</a:t>
            </a:r>
            <a:endParaRPr sz="2940"/>
          </a:p>
        </p:txBody>
      </p:sp>
      <p:sp>
        <p:nvSpPr>
          <p:cNvPr id="115" name="Google Shape;115;p19"/>
          <p:cNvSpPr txBox="1"/>
          <p:nvPr>
            <p:ph idx="1" type="body"/>
          </p:nvPr>
        </p:nvSpPr>
        <p:spPr>
          <a:xfrm>
            <a:off x="311700" y="665750"/>
            <a:ext cx="8520600" cy="4349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Char char="❖"/>
            </a:pPr>
            <a:r>
              <a:rPr lang="en"/>
              <a:t>The major urban areas within the zone are; Kitui, Kabati, Mbitini, Kisasi, Ikanga, Katulani and Kavisuni. Development of this zone, reflects the broader trends of economic diversification and infrastructural advancement in Kitui County, underscoring the importance of strategic planning and community involvement in shaping the future of these urban centers.</a:t>
            </a:r>
            <a:endParaRPr/>
          </a:p>
          <a:p>
            <a:pPr indent="-308610" lvl="0" marL="457200" rtl="0" algn="l">
              <a:spcBef>
                <a:spcPts val="0"/>
              </a:spcBef>
              <a:spcAft>
                <a:spcPts val="0"/>
              </a:spcAft>
              <a:buSzPct val="100000"/>
              <a:buChar char="❖"/>
            </a:pPr>
            <a:r>
              <a:rPr lang="en"/>
              <a:t>The zone has two major markets namely; Kalundu and Kabati. The markets form the major trading points of the zone. The markets serve as central point for the exchange of farm produce and livestock, attracting traders from both within and outside Kitui County. The markets’ proximity to Kitui Headquarters enhances their accessibility, facilitating the movement of goods and services. The markets operate on designated days enhancing their role as a commercial hubs. Kalundu and Kabati markets exemplifies the dynamic interplay between commerce and urbanization. </a:t>
            </a:r>
            <a:endParaRPr/>
          </a:p>
          <a:p>
            <a:pPr indent="-308610" lvl="0" marL="457200" rtl="0" algn="l">
              <a:spcBef>
                <a:spcPts val="0"/>
              </a:spcBef>
              <a:spcAft>
                <a:spcPts val="0"/>
              </a:spcAft>
              <a:buSzPct val="100000"/>
              <a:buChar char="❖"/>
            </a:pPr>
            <a:r>
              <a:rPr lang="en"/>
              <a:t>The zone is also endowed with several financial institutions like; banks (KCB, Equity, ABSA, NCBA, National Bank e.t.c), Macro finances, Saccos (Univision DT Sacco, Universal DT Sacco) providing financial services to the residents within the zone and beyond. The financial institutions have facilitated greater financial inclusion for small and medium enterprises in the market. </a:t>
            </a:r>
            <a:endParaRPr/>
          </a:p>
          <a:p>
            <a:pPr indent="-308610" lvl="0" marL="457200" rtl="0" algn="l">
              <a:spcBef>
                <a:spcPts val="0"/>
              </a:spcBef>
              <a:spcAft>
                <a:spcPts val="0"/>
              </a:spcAft>
              <a:buSzPct val="100000"/>
              <a:buChar char="❖"/>
            </a:pPr>
            <a:r>
              <a:rPr lang="en"/>
              <a:t>Educational institutions within the zone play a pivotal role in shaping the region’s urbanization trajectory. These institutions not only enhance human capital but also stimulate economic activities, infrastructure development and social dynamics that contribute to the growth and transformation of the town. </a:t>
            </a:r>
            <a:endParaRPr/>
          </a:p>
          <a:p>
            <a:pPr indent="-308610" lvl="0" marL="457200" rtl="0" algn="l">
              <a:spcBef>
                <a:spcPts val="0"/>
              </a:spcBef>
              <a:spcAft>
                <a:spcPts val="0"/>
              </a:spcAft>
              <a:buSzPct val="100000"/>
              <a:buChar char="❖"/>
            </a:pPr>
            <a:r>
              <a:rPr lang="en"/>
              <a:t>The influx of urban residents within the zones creates demand for housing, retail services and transportation, hence leading to urban growth.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4475" y="1812589"/>
            <a:ext cx="1966500" cy="1518300"/>
          </a:xfrm>
          <a:prstGeom prst="rect">
            <a:avLst/>
          </a:prstGeom>
        </p:spPr>
        <p:txBody>
          <a:bodyPr anchorCtr="0" anchor="t" bIns="0" lIns="0" spcFirstLastPara="1" rIns="91425" wrap="square" tIns="91425">
            <a:normAutofit fontScale="90000"/>
          </a:bodyPr>
          <a:lstStyle/>
          <a:p>
            <a:pPr indent="0" lvl="0" marL="0" rtl="0" algn="ctr">
              <a:spcBef>
                <a:spcPts val="0"/>
              </a:spcBef>
              <a:spcAft>
                <a:spcPts val="0"/>
              </a:spcAft>
              <a:buNone/>
            </a:pPr>
            <a:r>
              <a:rPr lang="en">
                <a:solidFill>
                  <a:schemeClr val="accent4"/>
                </a:solidFill>
              </a:rPr>
              <a:t>Key Strategies that can promote urbanization and revenue generation</a:t>
            </a:r>
            <a:endParaRPr>
              <a:solidFill>
                <a:schemeClr val="accent4"/>
              </a:solidFill>
            </a:endParaRPr>
          </a:p>
        </p:txBody>
      </p:sp>
      <p:sp>
        <p:nvSpPr>
          <p:cNvPr id="121" name="Google Shape;121;p20"/>
          <p:cNvSpPr txBox="1"/>
          <p:nvPr>
            <p:ph idx="9" type="body"/>
          </p:nvPr>
        </p:nvSpPr>
        <p:spPr>
          <a:xfrm>
            <a:off x="2471700" y="480150"/>
            <a:ext cx="6280800" cy="4536300"/>
          </a:xfrm>
          <a:prstGeom prst="rect">
            <a:avLst/>
          </a:prstGeom>
        </p:spPr>
        <p:txBody>
          <a:bodyPr anchorCtr="0" anchor="t" bIns="0" lIns="0" spcFirstLastPara="1" rIns="0" wrap="square" tIns="0">
            <a:normAutofit fontScale="77500" lnSpcReduction="10000"/>
          </a:bodyPr>
          <a:lstStyle/>
          <a:p>
            <a:pPr indent="-277812" lvl="0" marL="457200" rtl="0" algn="l">
              <a:spcBef>
                <a:spcPts val="0"/>
              </a:spcBef>
              <a:spcAft>
                <a:spcPts val="0"/>
              </a:spcAft>
              <a:buClr>
                <a:srgbClr val="000000"/>
              </a:buClr>
              <a:buSzPct val="55555"/>
              <a:buAutoNum type="arabicPeriod"/>
            </a:pPr>
            <a:r>
              <a:rPr lang="en">
                <a:solidFill>
                  <a:srgbClr val="000000"/>
                </a:solidFill>
              </a:rPr>
              <a:t>Establishment of wholesale market for agricultural products to eliminate competition with retailers – this will make retail trade more vibrant even in the peri urban market centres within the zone and expand the tax bracket hence enhanced revenue and urban vibrancy</a:t>
            </a:r>
            <a:endParaRPr>
              <a:solidFill>
                <a:srgbClr val="000000"/>
              </a:solidFill>
            </a:endParaRPr>
          </a:p>
          <a:p>
            <a:pPr indent="-277812" lvl="0" marL="457200" rtl="0" algn="l">
              <a:spcBef>
                <a:spcPts val="0"/>
              </a:spcBef>
              <a:spcAft>
                <a:spcPts val="0"/>
              </a:spcAft>
              <a:buClr>
                <a:srgbClr val="000000"/>
              </a:buClr>
              <a:buSzPct val="55555"/>
              <a:buAutoNum type="arabicPeriod"/>
            </a:pPr>
            <a:r>
              <a:rPr lang="en">
                <a:solidFill>
                  <a:srgbClr val="000000"/>
                </a:solidFill>
              </a:rPr>
              <a:t>Improvement of the urban infrastructure including roads, abattoirs, dumpsites, markets and parking facilities to create order and efficiency for business people trading in the zone’s urban areas</a:t>
            </a:r>
            <a:endParaRPr>
              <a:solidFill>
                <a:srgbClr val="000000"/>
              </a:solidFill>
            </a:endParaRPr>
          </a:p>
          <a:p>
            <a:pPr indent="-277812" lvl="0" marL="457200" rtl="0" algn="l">
              <a:spcBef>
                <a:spcPts val="0"/>
              </a:spcBef>
              <a:spcAft>
                <a:spcPts val="0"/>
              </a:spcAft>
              <a:buClr>
                <a:srgbClr val="000000"/>
              </a:buClr>
              <a:buSzPct val="55555"/>
              <a:buAutoNum type="arabicPeriod"/>
            </a:pPr>
            <a:r>
              <a:rPr lang="en">
                <a:solidFill>
                  <a:srgbClr val="000000"/>
                </a:solidFill>
              </a:rPr>
              <a:t>Preparation of Physical Land Use Development Plans for the aforementioned urban centers. The plans will go long way in addressing security of tenure. Providing land owners within urban centers with authentic land ownership documents improves revenue through payment of land rates. </a:t>
            </a:r>
            <a:endParaRPr>
              <a:solidFill>
                <a:srgbClr val="000000"/>
              </a:solidFill>
            </a:endParaRPr>
          </a:p>
          <a:p>
            <a:pPr indent="-277812" lvl="0" marL="457200" rtl="0" algn="l">
              <a:spcBef>
                <a:spcPts val="0"/>
              </a:spcBef>
              <a:spcAft>
                <a:spcPts val="0"/>
              </a:spcAft>
              <a:buClr>
                <a:srgbClr val="000000"/>
              </a:buClr>
              <a:buSzPct val="55555"/>
              <a:buAutoNum type="arabicPeriod"/>
            </a:pPr>
            <a:r>
              <a:rPr lang="en">
                <a:solidFill>
                  <a:srgbClr val="000000"/>
                </a:solidFill>
              </a:rPr>
              <a:t>Provision of streetlights to enhance working hours for all cadres of traders</a:t>
            </a:r>
            <a:endParaRPr>
              <a:solidFill>
                <a:srgbClr val="000000"/>
              </a:solidFill>
            </a:endParaRPr>
          </a:p>
          <a:p>
            <a:pPr indent="-277812" lvl="0" marL="457200" rtl="0" algn="l">
              <a:spcBef>
                <a:spcPts val="0"/>
              </a:spcBef>
              <a:spcAft>
                <a:spcPts val="0"/>
              </a:spcAft>
              <a:buClr>
                <a:srgbClr val="000000"/>
              </a:buClr>
              <a:buSzPct val="55555"/>
              <a:buAutoNum type="arabicPeriod"/>
            </a:pPr>
            <a:r>
              <a:rPr lang="en">
                <a:solidFill>
                  <a:srgbClr val="000000"/>
                </a:solidFill>
              </a:rPr>
              <a:t>Provision farm produce storage facilities within the urban centers to reduce post-harvest losses and improve market access</a:t>
            </a:r>
            <a:endParaRPr>
              <a:solidFill>
                <a:srgbClr val="000000"/>
              </a:solidFill>
            </a:endParaRPr>
          </a:p>
          <a:p>
            <a:pPr indent="-277812" lvl="0" marL="457200" rtl="0" algn="l">
              <a:spcBef>
                <a:spcPts val="0"/>
              </a:spcBef>
              <a:spcAft>
                <a:spcPts val="0"/>
              </a:spcAft>
              <a:buClr>
                <a:srgbClr val="000000"/>
              </a:buClr>
              <a:buSzPct val="55555"/>
              <a:buAutoNum type="arabicPeriod"/>
            </a:pPr>
            <a:r>
              <a:rPr lang="en">
                <a:solidFill>
                  <a:srgbClr val="000000"/>
                </a:solidFill>
              </a:rPr>
              <a:t>Construction of modern livestock markets complete within the three major markets, Kisasi,Kalundu and Kabati for more controlled trading and minimum losses</a:t>
            </a:r>
            <a:endParaRPr>
              <a:solidFill>
                <a:srgbClr val="000000"/>
              </a:solidFill>
            </a:endParaRPr>
          </a:p>
        </p:txBody>
      </p:sp>
      <p:sp>
        <p:nvSpPr>
          <p:cNvPr id="122" name="Google Shape;122;p20"/>
          <p:cNvSpPr txBox="1"/>
          <p:nvPr>
            <p:ph idx="1" type="subTitle"/>
          </p:nvPr>
        </p:nvSpPr>
        <p:spPr>
          <a:xfrm>
            <a:off x="228600" y="4891059"/>
            <a:ext cx="1475700" cy="1254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solidFill>
                  <a:schemeClr val="dk2"/>
                </a:solidFill>
              </a:rPr>
              <a:t>KITUI TOWN AND ENVIRONS</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0"/>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40"/>
              <a:t>2. MWINGI TOWN AND ENVIRONS EIZ URBANIZATION TRENDS</a:t>
            </a:r>
            <a:endParaRPr sz="2940"/>
          </a:p>
        </p:txBody>
      </p:sp>
      <p:sp>
        <p:nvSpPr>
          <p:cNvPr id="128" name="Google Shape;128;p21"/>
          <p:cNvSpPr txBox="1"/>
          <p:nvPr>
            <p:ph idx="1" type="body"/>
          </p:nvPr>
        </p:nvSpPr>
        <p:spPr>
          <a:xfrm>
            <a:off x="311700" y="707400"/>
            <a:ext cx="8520600" cy="4379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In this zone, the major urban areas include Mwingi, Migwani, Waita, Mbondoni, Nguutani among others.</a:t>
            </a:r>
            <a:endParaRPr/>
          </a:p>
          <a:p>
            <a:pPr indent="-308610" lvl="0" marL="457200" rtl="0" algn="l">
              <a:spcBef>
                <a:spcPts val="0"/>
              </a:spcBef>
              <a:spcAft>
                <a:spcPts val="0"/>
              </a:spcAft>
              <a:buSzPct val="100000"/>
              <a:buChar char="❖"/>
            </a:pPr>
            <a:r>
              <a:rPr lang="en"/>
              <a:t>Mwingi town is the largest town in the zone.  The town’s location along Thika-Garissa highway places the zone strategically for business access to broader markets and supply chain fostering economic integration and development. </a:t>
            </a:r>
            <a:endParaRPr/>
          </a:p>
          <a:p>
            <a:pPr indent="-308610" lvl="0" marL="457200" rtl="0" algn="l">
              <a:spcBef>
                <a:spcPts val="0"/>
              </a:spcBef>
              <a:spcAft>
                <a:spcPts val="0"/>
              </a:spcAft>
              <a:buSzPct val="100000"/>
              <a:buChar char="❖"/>
            </a:pPr>
            <a:r>
              <a:rPr lang="en"/>
              <a:t>The proposed LAPSSET corridor is aimed to enhance connectivity, facilitating trade and movement of people and goods. The town has attracted private sector investors leading to the development of various commercial properties including residential units, shops and offices. This carters for growing demand from businesses and residents. </a:t>
            </a:r>
            <a:endParaRPr/>
          </a:p>
          <a:p>
            <a:pPr indent="-308610" lvl="0" marL="457200" rtl="0" algn="l">
              <a:spcBef>
                <a:spcPts val="0"/>
              </a:spcBef>
              <a:spcAft>
                <a:spcPts val="0"/>
              </a:spcAft>
              <a:buSzPct val="100000"/>
              <a:buChar char="❖"/>
            </a:pPr>
            <a:r>
              <a:rPr lang="en"/>
              <a:t>Migwani urban area is surrounded by fertile land supporting a thriving agricultural sector that sustains the local population and creates opportunities for agrobusiness ventures including processing and value addition.  provides potential for tourism development owing to its the Ikoo valley. The valley’s scenic landscapes including the Kaluu view point with its panoramic views of the Ikoo river and surrounding hills provide opportunities for ecotourism activities such as hiking and photography. This attraction contributes to the regions appeal as a gate away from urban life. The construction of modern building including hotels and conference facilities reflects the towns evolving landscape and its increasing appeal to investors and visitors. </a:t>
            </a:r>
            <a:endParaRPr/>
          </a:p>
          <a:p>
            <a:pPr indent="-308610" lvl="0" marL="457200" rtl="0" algn="l">
              <a:spcBef>
                <a:spcPts val="0"/>
              </a:spcBef>
              <a:spcAft>
                <a:spcPts val="0"/>
              </a:spcAft>
              <a:buSzPct val="100000"/>
              <a:buChar char="❖"/>
            </a:pPr>
            <a:r>
              <a:rPr lang="en"/>
              <a:t>The Waita rock catchment serves as avital water source for local communities. Urbanization in nearby areas has led to increased tourism which is economically beneficial. </a:t>
            </a:r>
            <a:endParaRPr/>
          </a:p>
          <a:p>
            <a:pPr indent="-308610" lvl="0" marL="457200" rtl="0" algn="l">
              <a:spcBef>
                <a:spcPts val="0"/>
              </a:spcBef>
              <a:spcAft>
                <a:spcPts val="0"/>
              </a:spcAft>
              <a:buSzPct val="100000"/>
              <a:buChar char="❖"/>
            </a:pPr>
            <a:r>
              <a:rPr lang="en"/>
              <a:t>Kwa Machina gypsum factory (Erdemann Gypsum Limited) at Mtwangombe, is a key player in the local construction materials industry. The factory has attracted a workforce leading to the growth of Mutwangombe and Nguni. The Garissa highway facilitates movement of raw materials from Tana River County to the site and finished products to the market.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4475" y="1812589"/>
            <a:ext cx="1966500" cy="1518300"/>
          </a:xfrm>
          <a:prstGeom prst="rect">
            <a:avLst/>
          </a:prstGeom>
        </p:spPr>
        <p:txBody>
          <a:bodyPr anchorCtr="0" anchor="t" bIns="0" lIns="0" spcFirstLastPara="1" rIns="91425" wrap="square" tIns="91425">
            <a:normAutofit fontScale="90000"/>
          </a:bodyPr>
          <a:lstStyle/>
          <a:p>
            <a:pPr indent="0" lvl="0" marL="0" rtl="0" algn="ctr">
              <a:spcBef>
                <a:spcPts val="0"/>
              </a:spcBef>
              <a:spcAft>
                <a:spcPts val="0"/>
              </a:spcAft>
              <a:buNone/>
            </a:pPr>
            <a:r>
              <a:rPr lang="en">
                <a:solidFill>
                  <a:schemeClr val="accent4"/>
                </a:solidFill>
              </a:rPr>
              <a:t>Key Strategies that can promote urbanization and revenue generation</a:t>
            </a:r>
            <a:endParaRPr>
              <a:solidFill>
                <a:schemeClr val="accent4"/>
              </a:solidFill>
            </a:endParaRPr>
          </a:p>
        </p:txBody>
      </p:sp>
      <p:sp>
        <p:nvSpPr>
          <p:cNvPr id="134" name="Google Shape;134;p22"/>
          <p:cNvSpPr txBox="1"/>
          <p:nvPr>
            <p:ph idx="9" type="body"/>
          </p:nvPr>
        </p:nvSpPr>
        <p:spPr>
          <a:xfrm>
            <a:off x="2471700" y="480150"/>
            <a:ext cx="6280800" cy="4536300"/>
          </a:xfrm>
          <a:prstGeom prst="rect">
            <a:avLst/>
          </a:prstGeom>
        </p:spPr>
        <p:txBody>
          <a:bodyPr anchorCtr="0" anchor="ctr" bIns="0" lIns="0" spcFirstLastPara="1" rIns="0" wrap="square" tIns="0">
            <a:normAutofit/>
          </a:bodyPr>
          <a:lstStyle/>
          <a:p>
            <a:pPr indent="-279400" lvl="0" marL="457200" rtl="0" algn="l">
              <a:spcBef>
                <a:spcPts val="0"/>
              </a:spcBef>
              <a:spcAft>
                <a:spcPts val="0"/>
              </a:spcAft>
              <a:buClr>
                <a:srgbClr val="000000"/>
              </a:buClr>
              <a:buSzPts val="800"/>
              <a:buAutoNum type="arabicPeriod"/>
            </a:pPr>
            <a:r>
              <a:rPr lang="en" sz="1600">
                <a:solidFill>
                  <a:srgbClr val="000000"/>
                </a:solidFill>
              </a:rPr>
              <a:t>Improvement of general urban infrastructure to make the environment conducive for more business vibrancy</a:t>
            </a:r>
            <a:endParaRPr sz="1600">
              <a:solidFill>
                <a:srgbClr val="000000"/>
              </a:solidFill>
            </a:endParaRPr>
          </a:p>
          <a:p>
            <a:pPr indent="-279400" lvl="0" marL="457200" rtl="0" algn="l">
              <a:spcBef>
                <a:spcPts val="0"/>
              </a:spcBef>
              <a:spcAft>
                <a:spcPts val="0"/>
              </a:spcAft>
              <a:buClr>
                <a:srgbClr val="000000"/>
              </a:buClr>
              <a:buSzPts val="800"/>
              <a:buAutoNum type="arabicPeriod"/>
            </a:pPr>
            <a:r>
              <a:rPr lang="en" sz="1600">
                <a:solidFill>
                  <a:srgbClr val="000000"/>
                </a:solidFill>
              </a:rPr>
              <a:t>Prepare and approve Local Physical and Land Use development Plans for all the towns within the zone to enable </a:t>
            </a:r>
            <a:r>
              <a:rPr lang="en" sz="1600">
                <a:solidFill>
                  <a:srgbClr val="000000"/>
                </a:solidFill>
              </a:rPr>
              <a:t>landowners</a:t>
            </a:r>
            <a:r>
              <a:rPr lang="en" sz="1600">
                <a:solidFill>
                  <a:srgbClr val="000000"/>
                </a:solidFill>
              </a:rPr>
              <a:t> access ownershop documents hence increased land rates collection and investments</a:t>
            </a:r>
            <a:endParaRPr sz="1600">
              <a:solidFill>
                <a:srgbClr val="000000"/>
              </a:solidFill>
            </a:endParaRPr>
          </a:p>
          <a:p>
            <a:pPr indent="-279400" lvl="0" marL="457200" rtl="0" algn="l">
              <a:spcBef>
                <a:spcPts val="0"/>
              </a:spcBef>
              <a:spcAft>
                <a:spcPts val="0"/>
              </a:spcAft>
              <a:buClr>
                <a:srgbClr val="000000"/>
              </a:buClr>
              <a:buSzPts val="800"/>
              <a:buAutoNum type="arabicPeriod"/>
            </a:pPr>
            <a:r>
              <a:rPr lang="en" sz="1600">
                <a:solidFill>
                  <a:srgbClr val="000000"/>
                </a:solidFill>
              </a:rPr>
              <a:t>Construction of a modern abbatoir in Mwingi Town to tap on the livestock markets in Nguni,Ukasi,Ngomeni and Tseikuru hence increased market</a:t>
            </a:r>
            <a:endParaRPr sz="1600">
              <a:solidFill>
                <a:srgbClr val="000000"/>
              </a:solidFill>
            </a:endParaRPr>
          </a:p>
        </p:txBody>
      </p:sp>
      <p:sp>
        <p:nvSpPr>
          <p:cNvPr id="135" name="Google Shape;135;p22"/>
          <p:cNvSpPr txBox="1"/>
          <p:nvPr>
            <p:ph idx="1" type="subTitle"/>
          </p:nvPr>
        </p:nvSpPr>
        <p:spPr>
          <a:xfrm>
            <a:off x="228600" y="4891059"/>
            <a:ext cx="1475700" cy="1254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solidFill>
                  <a:schemeClr val="dk2"/>
                </a:solidFill>
              </a:rPr>
              <a:t>MWINGI TOWN AND ENVIRONS</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0" y="0"/>
            <a:ext cx="91440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40"/>
              <a:t>3. KYUSO-MUMONI-TSEIKURU-THARAKA EIZ URBANIZATION TRENDS</a:t>
            </a:r>
            <a:endParaRPr sz="2840"/>
          </a:p>
        </p:txBody>
      </p:sp>
      <p:sp>
        <p:nvSpPr>
          <p:cNvPr id="141" name="Google Shape;141;p23"/>
          <p:cNvSpPr txBox="1"/>
          <p:nvPr>
            <p:ph idx="1" type="body"/>
          </p:nvPr>
        </p:nvSpPr>
        <p:spPr>
          <a:xfrm>
            <a:off x="311700" y="637125"/>
            <a:ext cx="8520600" cy="44067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Char char="❖"/>
            </a:pPr>
            <a:r>
              <a:rPr lang="en"/>
              <a:t>Situated in northern Kitui County, the Kyuso-Mumoni-Tseikuru-Tharaka EIZ represents a region of immense strategic and economic importance. Anchored by urban centers such as Tseikuru, Kyuso, Kamuwongo, and Ngomeni, this zone benefits from its proximity to the LAPSSET corridor, positioning it as a critical gateway for regional trade and investment. The Tana River further enhances the zone's potential by providing a reliable water source for agriculture and industrial activities, transforming previously arid areas into productive hubs.</a:t>
            </a:r>
            <a:endParaRPr/>
          </a:p>
          <a:p>
            <a:pPr indent="-308610" lvl="0" marL="457200" rtl="0" algn="l">
              <a:spcBef>
                <a:spcPts val="0"/>
              </a:spcBef>
              <a:spcAft>
                <a:spcPts val="0"/>
              </a:spcAft>
              <a:buSzPct val="100000"/>
              <a:buChar char="❖"/>
            </a:pPr>
            <a:r>
              <a:rPr lang="en"/>
              <a:t>Tseikuru serves as a vital economic node, particularly for livestock trade, connecting pastoralists and farmers across the region. The market's vibrant exchange of goats, sheep, cattle, and poultry stimulates local commerce and supports livelihoods. Additionally, the zone is rich in mineral resources, including limestone deposits in Ngaaie, which have attracted major cement manufacturers like Athi River Mining (ARM). Iron ore in Mataka and copper gemstones in Kimo further highlight the area's untapped mining potential, offering opportunities for industrial growth and job creation.</a:t>
            </a:r>
            <a:endParaRPr/>
          </a:p>
          <a:p>
            <a:pPr indent="-308610" lvl="0" marL="457200" rtl="0" algn="l">
              <a:spcBef>
                <a:spcPts val="0"/>
              </a:spcBef>
              <a:spcAft>
                <a:spcPts val="0"/>
              </a:spcAft>
              <a:buSzPct val="100000"/>
              <a:buChar char="❖"/>
            </a:pPr>
            <a:r>
              <a:rPr lang="en"/>
              <a:t>Agriculture thrives through irrigation projects such as the Wikithuki scheme, which supports year-round farming on up to 10,000 acres, boosting food security and rural incomes. Meanwhile, tourism presents another key economic pillar, with attractions like the Mwingi North Game Reserve, Kora National Park, and the Mumoni Hills Forest Reserve—a premier birdwatching destination. These sites draw visitors, spurring infrastructure development and service-sector growth.</a:t>
            </a:r>
            <a:endParaRPr/>
          </a:p>
          <a:p>
            <a:pPr indent="-308610" lvl="0" marL="457200" rtl="0" algn="l">
              <a:spcBef>
                <a:spcPts val="0"/>
              </a:spcBef>
              <a:spcAft>
                <a:spcPts val="0"/>
              </a:spcAft>
              <a:buSzPct val="100000"/>
              <a:buChar char="❖"/>
            </a:pPr>
            <a:r>
              <a:rPr lang="en"/>
              <a:t>The convergence of trade, mining, agriculture, and tourism in this zone creates a dynamic urbanization pathway. Strategic investments in infrastructure, sustainable mining practices, and eco-tourism will be essential to harness its full potential while ensuring inclusive and environmentally responsible growth.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4475" y="1812589"/>
            <a:ext cx="1966500" cy="1518300"/>
          </a:xfrm>
          <a:prstGeom prst="rect">
            <a:avLst/>
          </a:prstGeom>
        </p:spPr>
        <p:txBody>
          <a:bodyPr anchorCtr="0" anchor="t" bIns="0" lIns="0" spcFirstLastPara="1" rIns="91425" wrap="square" tIns="91425">
            <a:normAutofit fontScale="90000"/>
          </a:bodyPr>
          <a:lstStyle/>
          <a:p>
            <a:pPr indent="0" lvl="0" marL="0" rtl="0" algn="ctr">
              <a:spcBef>
                <a:spcPts val="0"/>
              </a:spcBef>
              <a:spcAft>
                <a:spcPts val="0"/>
              </a:spcAft>
              <a:buNone/>
            </a:pPr>
            <a:r>
              <a:rPr lang="en">
                <a:solidFill>
                  <a:schemeClr val="accent4"/>
                </a:solidFill>
              </a:rPr>
              <a:t>Key Strategies that can promote urbanization and revenue generation</a:t>
            </a:r>
            <a:endParaRPr>
              <a:solidFill>
                <a:schemeClr val="accent4"/>
              </a:solidFill>
            </a:endParaRPr>
          </a:p>
        </p:txBody>
      </p:sp>
      <p:sp>
        <p:nvSpPr>
          <p:cNvPr id="147" name="Google Shape;147;p24"/>
          <p:cNvSpPr txBox="1"/>
          <p:nvPr>
            <p:ph idx="9" type="body"/>
          </p:nvPr>
        </p:nvSpPr>
        <p:spPr>
          <a:xfrm>
            <a:off x="2471700" y="480150"/>
            <a:ext cx="6280800" cy="4536300"/>
          </a:xfrm>
          <a:prstGeom prst="rect">
            <a:avLst/>
          </a:prstGeom>
        </p:spPr>
        <p:txBody>
          <a:bodyPr anchorCtr="0" anchor="ctr" bIns="0" lIns="0" spcFirstLastPara="1" rIns="0" wrap="square" tIns="0">
            <a:normAutofit/>
          </a:bodyPr>
          <a:lstStyle/>
          <a:p>
            <a:pPr indent="-266700" lvl="0" marL="457200" rtl="0" algn="l">
              <a:lnSpc>
                <a:spcPct val="95000"/>
              </a:lnSpc>
              <a:spcBef>
                <a:spcPts val="0"/>
              </a:spcBef>
              <a:spcAft>
                <a:spcPts val="0"/>
              </a:spcAft>
              <a:buClr>
                <a:srgbClr val="000000"/>
              </a:buClr>
              <a:buSzPts val="600"/>
              <a:buAutoNum type="arabicPeriod"/>
            </a:pPr>
            <a:r>
              <a:rPr lang="en" sz="1400">
                <a:solidFill>
                  <a:srgbClr val="000000"/>
                </a:solidFill>
              </a:rPr>
              <a:t>Operationalization of the Kitui County tourism circuit to take advantage of the Mwingi North game reserve and the Kora National Park. This will increase business vibrancy in the adjacent urban areas and possibly lead to an increase in investments hence more revenue collection</a:t>
            </a:r>
            <a:endParaRPr sz="1400">
              <a:solidFill>
                <a:srgbClr val="000000"/>
              </a:solidFill>
            </a:endParaRPr>
          </a:p>
          <a:p>
            <a:pPr indent="-266700" lvl="0" marL="457200" rtl="0" algn="l">
              <a:lnSpc>
                <a:spcPct val="95000"/>
              </a:lnSpc>
              <a:spcBef>
                <a:spcPts val="0"/>
              </a:spcBef>
              <a:spcAft>
                <a:spcPts val="0"/>
              </a:spcAft>
              <a:buClr>
                <a:srgbClr val="000000"/>
              </a:buClr>
              <a:buSzPts val="600"/>
              <a:buAutoNum type="arabicPeriod"/>
            </a:pPr>
            <a:r>
              <a:rPr lang="en" sz="1400">
                <a:solidFill>
                  <a:srgbClr val="000000"/>
                </a:solidFill>
              </a:rPr>
              <a:t>Provision of the necessary facilities such as loading ramps, water troughs, fences, sheds, pay points and lavatories in all livestock yards within the urban centres to boost livestock trade hence increased revenue collection</a:t>
            </a:r>
            <a:endParaRPr sz="1400">
              <a:solidFill>
                <a:srgbClr val="000000"/>
              </a:solidFill>
            </a:endParaRPr>
          </a:p>
          <a:p>
            <a:pPr indent="-266700" lvl="0" marL="457200" rtl="0" algn="l">
              <a:lnSpc>
                <a:spcPct val="95000"/>
              </a:lnSpc>
              <a:spcBef>
                <a:spcPts val="0"/>
              </a:spcBef>
              <a:spcAft>
                <a:spcPts val="0"/>
              </a:spcAft>
              <a:buClr>
                <a:srgbClr val="000000"/>
              </a:buClr>
              <a:buSzPts val="600"/>
              <a:buAutoNum type="arabicPeriod"/>
            </a:pPr>
            <a:r>
              <a:rPr lang="en" sz="1400">
                <a:solidFill>
                  <a:srgbClr val="000000"/>
                </a:solidFill>
              </a:rPr>
              <a:t>Register and license artisanal miners in the zone to legalize their operations and improve regulation, safety, and taxation. Introduce “mining-for-greening” projects: every mining license must contribute to a fund for environmental conservation hence create more jobs.</a:t>
            </a:r>
            <a:endParaRPr sz="1400">
              <a:solidFill>
                <a:srgbClr val="000000"/>
              </a:solidFill>
            </a:endParaRPr>
          </a:p>
        </p:txBody>
      </p:sp>
      <p:sp>
        <p:nvSpPr>
          <p:cNvPr id="148" name="Google Shape;148;p24"/>
          <p:cNvSpPr txBox="1"/>
          <p:nvPr>
            <p:ph idx="1" type="subTitle"/>
          </p:nvPr>
        </p:nvSpPr>
        <p:spPr>
          <a:xfrm>
            <a:off x="228600" y="4891059"/>
            <a:ext cx="1475700" cy="125400"/>
          </a:xfrm>
          <a:prstGeom prst="rect">
            <a:avLst/>
          </a:prstGeom>
        </p:spPr>
        <p:txBody>
          <a:bodyPr anchorCtr="0" anchor="t" bIns="0" lIns="0" spcFirstLastPara="1" rIns="0" wrap="square" tIns="0">
            <a:normAutofit fontScale="92500"/>
          </a:bodyPr>
          <a:lstStyle/>
          <a:p>
            <a:pPr indent="0" lvl="0" marL="0" rtl="0" algn="l">
              <a:spcBef>
                <a:spcPts val="0"/>
              </a:spcBef>
              <a:spcAft>
                <a:spcPts val="1200"/>
              </a:spcAft>
              <a:buNone/>
            </a:pPr>
            <a:r>
              <a:rPr lang="en">
                <a:solidFill>
                  <a:schemeClr val="dk2"/>
                </a:solidFill>
              </a:rPr>
              <a:t>KYUSO-MUMONI-TSEIKURU-THARAKA</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0"/>
            <a:ext cx="85206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40"/>
              <a:t>4. MUI BASIN EIZ URBANIZATION TRENDS</a:t>
            </a:r>
            <a:endParaRPr sz="2840"/>
          </a:p>
        </p:txBody>
      </p:sp>
      <p:sp>
        <p:nvSpPr>
          <p:cNvPr id="154" name="Google Shape;154;p25"/>
          <p:cNvSpPr txBox="1"/>
          <p:nvPr>
            <p:ph idx="1" type="body"/>
          </p:nvPr>
        </p:nvSpPr>
        <p:spPr>
          <a:xfrm>
            <a:off x="311700" y="572425"/>
            <a:ext cx="8520600" cy="4514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Char char="❖"/>
            </a:pPr>
            <a:r>
              <a:rPr lang="en"/>
              <a:t>This economic zone cuts across Mui, Zombe, Mwitika, Mutitu,Kaliku, Endau,Malalani, Nguni and Voo, Kyamatu urban areas of Mwingi Central and Kitui East Sub Counties. The main potential this zone is the coal mining and associated coal power generation and industry. Strategic investments in mining, financial services, livestock development, apiculture, housing, trade, and agriculture have the potential to transform the region's economy, improve livelihoods, and position Kitui County as a key player in Kenya's development agenda. Beyond coal, the Mui Basin also contains deposits of limestone, iron ore, graphite, copper and manganese, offering diverse opportunities for mineral extraction and process.</a:t>
            </a:r>
            <a:endParaRPr/>
          </a:p>
          <a:p>
            <a:pPr indent="-308610" lvl="0" marL="457200" rtl="0" algn="l">
              <a:spcBef>
                <a:spcPts val="0"/>
              </a:spcBef>
              <a:spcAft>
                <a:spcPts val="0"/>
              </a:spcAft>
              <a:buSzPct val="100000"/>
              <a:buChar char="❖"/>
            </a:pPr>
            <a:r>
              <a:rPr lang="en"/>
              <a:t>There is also a lot of livestock trade with the major markets in the zone being Nuu, Nguni and Zombe </a:t>
            </a:r>
            <a:endParaRPr/>
          </a:p>
          <a:p>
            <a:pPr indent="-308610" lvl="0" marL="457200" rtl="0" algn="l">
              <a:spcBef>
                <a:spcPts val="0"/>
              </a:spcBef>
              <a:spcAft>
                <a:spcPts val="0"/>
              </a:spcAft>
              <a:buSzPct val="100000"/>
              <a:buChar char="❖"/>
            </a:pPr>
            <a:r>
              <a:rPr lang="en"/>
              <a:t>Nguni is strategically located along key transport route making it a crucial hub for trade services and investments.  The presence of external vendors offering a variety of goods further enriches the markets diversity and appeal. </a:t>
            </a:r>
            <a:endParaRPr/>
          </a:p>
          <a:p>
            <a:pPr indent="-308610" lvl="0" marL="457200" rtl="0" algn="l">
              <a:spcBef>
                <a:spcPts val="0"/>
              </a:spcBef>
              <a:spcAft>
                <a:spcPts val="0"/>
              </a:spcAft>
              <a:buSzPct val="100000"/>
              <a:buChar char="❖"/>
            </a:pPr>
            <a:r>
              <a:rPr lang="en"/>
              <a:t>Zombe serves as a vital trading centre facilitating the exchange of agricultural produce, livestock and household goods. By harnessing available water resources effectively farmers along the Thua river in Zombe, Inyuu, Voo is overcoming climatic challenges leading to increased agricultural productivity and improved community resilience.  AMREF health Africa, Kitui WASH project has worked to improve water access and sanitation in the area through thr development of water harvesting systems and the promotion of sustainable agriculture, hence enhancing the quality of life for residents. </a:t>
            </a:r>
            <a:endParaRPr/>
          </a:p>
          <a:p>
            <a:pPr indent="-308610" lvl="0" marL="457200" rtl="0" algn="l">
              <a:spcBef>
                <a:spcPts val="0"/>
              </a:spcBef>
              <a:spcAft>
                <a:spcPts val="0"/>
              </a:spcAft>
              <a:buSzPct val="100000"/>
              <a:buChar char="❖"/>
            </a:pPr>
            <a:r>
              <a:rPr lang="en"/>
              <a:t>Nuu hills stands out with 13 springs forming a great water catchment area in the zone. Mutitu hill is home to different species of birds, a diversity of fauna and flora  making it a haven for nature enthusiasts. Nzau dam constructed in the 1930s provides water to the mutitu urban areas residents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314475" y="1812589"/>
            <a:ext cx="1966500" cy="1518300"/>
          </a:xfrm>
          <a:prstGeom prst="rect">
            <a:avLst/>
          </a:prstGeom>
        </p:spPr>
        <p:txBody>
          <a:bodyPr anchorCtr="0" anchor="t" bIns="0" lIns="0" spcFirstLastPara="1" rIns="91425" wrap="square" tIns="91425">
            <a:normAutofit fontScale="90000"/>
          </a:bodyPr>
          <a:lstStyle/>
          <a:p>
            <a:pPr indent="0" lvl="0" marL="0" rtl="0" algn="ctr">
              <a:spcBef>
                <a:spcPts val="0"/>
              </a:spcBef>
              <a:spcAft>
                <a:spcPts val="0"/>
              </a:spcAft>
              <a:buNone/>
            </a:pPr>
            <a:r>
              <a:rPr lang="en">
                <a:solidFill>
                  <a:schemeClr val="accent4"/>
                </a:solidFill>
              </a:rPr>
              <a:t>Key Strategies that can promote urbanization and revenue generation</a:t>
            </a:r>
            <a:endParaRPr>
              <a:solidFill>
                <a:schemeClr val="accent4"/>
              </a:solidFill>
            </a:endParaRPr>
          </a:p>
        </p:txBody>
      </p:sp>
      <p:sp>
        <p:nvSpPr>
          <p:cNvPr id="160" name="Google Shape;160;p26"/>
          <p:cNvSpPr txBox="1"/>
          <p:nvPr>
            <p:ph idx="9" type="body"/>
          </p:nvPr>
        </p:nvSpPr>
        <p:spPr>
          <a:xfrm>
            <a:off x="2471700" y="480150"/>
            <a:ext cx="6280800" cy="4536300"/>
          </a:xfrm>
          <a:prstGeom prst="rect">
            <a:avLst/>
          </a:prstGeom>
        </p:spPr>
        <p:txBody>
          <a:bodyPr anchorCtr="0" anchor="ctr" bIns="0" lIns="0" spcFirstLastPara="1" rIns="0" wrap="square" tIns="0">
            <a:normAutofit/>
          </a:bodyPr>
          <a:lstStyle/>
          <a:p>
            <a:pPr indent="-273050" lvl="0" marL="457200" rtl="0" algn="l">
              <a:lnSpc>
                <a:spcPct val="105000"/>
              </a:lnSpc>
              <a:spcBef>
                <a:spcPts val="0"/>
              </a:spcBef>
              <a:spcAft>
                <a:spcPts val="0"/>
              </a:spcAft>
              <a:buClr>
                <a:srgbClr val="000000"/>
              </a:buClr>
              <a:buSzPts val="700"/>
              <a:buAutoNum type="arabicPeriod"/>
            </a:pPr>
            <a:r>
              <a:rPr lang="en" sz="1500">
                <a:solidFill>
                  <a:srgbClr val="000000"/>
                </a:solidFill>
              </a:rPr>
              <a:t>Explore the possibility of safe and sustainable coal exploration to boost economic activities in the area.</a:t>
            </a:r>
            <a:endParaRPr sz="1500">
              <a:solidFill>
                <a:srgbClr val="000000"/>
              </a:solidFill>
            </a:endParaRPr>
          </a:p>
          <a:p>
            <a:pPr indent="-273050" lvl="0" marL="457200" rtl="0" algn="l">
              <a:lnSpc>
                <a:spcPct val="105000"/>
              </a:lnSpc>
              <a:spcBef>
                <a:spcPts val="0"/>
              </a:spcBef>
              <a:spcAft>
                <a:spcPts val="0"/>
              </a:spcAft>
              <a:buClr>
                <a:srgbClr val="000000"/>
              </a:buClr>
              <a:buSzPts val="700"/>
              <a:buAutoNum type="arabicPeriod"/>
            </a:pPr>
            <a:r>
              <a:rPr lang="en" sz="1500">
                <a:solidFill>
                  <a:srgbClr val="000000"/>
                </a:solidFill>
              </a:rPr>
              <a:t>Develop abattoirs and meat processing facilities in major urban centres within the zone to add value to livestock products, create employment and boost the local economy.</a:t>
            </a:r>
            <a:endParaRPr sz="1500">
              <a:solidFill>
                <a:srgbClr val="000000"/>
              </a:solidFill>
            </a:endParaRPr>
          </a:p>
          <a:p>
            <a:pPr indent="-273050" lvl="0" marL="457200" rtl="0" algn="l">
              <a:lnSpc>
                <a:spcPct val="105000"/>
              </a:lnSpc>
              <a:spcBef>
                <a:spcPts val="0"/>
              </a:spcBef>
              <a:spcAft>
                <a:spcPts val="0"/>
              </a:spcAft>
              <a:buClr>
                <a:srgbClr val="000000"/>
              </a:buClr>
              <a:buSzPts val="700"/>
              <a:buAutoNum type="arabicPeriod"/>
            </a:pPr>
            <a:r>
              <a:rPr lang="en" sz="1500">
                <a:solidFill>
                  <a:srgbClr val="000000"/>
                </a:solidFill>
              </a:rPr>
              <a:t>Establish honey processing plants, cooperative hubs, and packaging industries. Create platforms for beekeepers to access wider markets, ensuring fair trade and sustainable income.</a:t>
            </a:r>
            <a:endParaRPr sz="1500">
              <a:solidFill>
                <a:srgbClr val="000000"/>
              </a:solidFill>
            </a:endParaRPr>
          </a:p>
          <a:p>
            <a:pPr indent="-273050" lvl="0" marL="457200" rtl="0" algn="l">
              <a:lnSpc>
                <a:spcPct val="105000"/>
              </a:lnSpc>
              <a:spcBef>
                <a:spcPts val="0"/>
              </a:spcBef>
              <a:spcAft>
                <a:spcPts val="0"/>
              </a:spcAft>
              <a:buClr>
                <a:srgbClr val="000000"/>
              </a:buClr>
              <a:buSzPts val="700"/>
              <a:buAutoNum type="arabicPeriod"/>
            </a:pPr>
            <a:r>
              <a:rPr lang="en" sz="1500">
                <a:solidFill>
                  <a:srgbClr val="000000"/>
                </a:solidFill>
              </a:rPr>
              <a:t>Consider provision of land ownership documents to areas that are not adjudicated especially in Nuu area. This will enable residents access credit more easily hence increased investments and business expansion leading to more revenue</a:t>
            </a:r>
            <a:endParaRPr sz="1500">
              <a:solidFill>
                <a:srgbClr val="000000"/>
              </a:solidFill>
            </a:endParaRPr>
          </a:p>
        </p:txBody>
      </p:sp>
      <p:sp>
        <p:nvSpPr>
          <p:cNvPr id="161" name="Google Shape;161;p26"/>
          <p:cNvSpPr txBox="1"/>
          <p:nvPr>
            <p:ph idx="1" type="subTitle"/>
          </p:nvPr>
        </p:nvSpPr>
        <p:spPr>
          <a:xfrm>
            <a:off x="228600" y="4891059"/>
            <a:ext cx="1475700" cy="1254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solidFill>
                  <a:schemeClr val="dk2"/>
                </a:solidFill>
              </a:rPr>
              <a:t>MUI BASIN</a:t>
            </a:r>
            <a:endParaRPr>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268775" y="0"/>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40"/>
              <a:t>5. MUTOMO-IKUTHA-KANZIKO-ATHI EIZ URBANIZATION TRENDS</a:t>
            </a:r>
            <a:endParaRPr sz="2840"/>
          </a:p>
        </p:txBody>
      </p:sp>
      <p:sp>
        <p:nvSpPr>
          <p:cNvPr id="167" name="Google Shape;167;p27"/>
          <p:cNvSpPr txBox="1"/>
          <p:nvPr>
            <p:ph idx="1" type="body"/>
          </p:nvPr>
        </p:nvSpPr>
        <p:spPr>
          <a:xfrm>
            <a:off x="311700" y="644275"/>
            <a:ext cx="8520600" cy="43779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SzPct val="100000"/>
              <a:buChar char="❖"/>
            </a:pPr>
            <a:r>
              <a:rPr lang="en"/>
              <a:t>The location of this zone along Kitui-Kibwezi road, which a  major transport corridor  improved connectivity reducing travel times and facilitating the movement of goods and people thereby stimulating economic activities and urban growth. This road has been a catalyst for urbanization in Mutomo, Ikutha,  Athi markets driving economic growth, improving infrastructure and enhancing the quality of life for residents. </a:t>
            </a:r>
            <a:endParaRPr/>
          </a:p>
          <a:p>
            <a:pPr indent="-308610" lvl="0" marL="457200" rtl="0" algn="l">
              <a:spcBef>
                <a:spcPts val="0"/>
              </a:spcBef>
              <a:spcAft>
                <a:spcPts val="0"/>
              </a:spcAft>
              <a:buSzPct val="100000"/>
              <a:buChar char="❖"/>
            </a:pPr>
            <a:r>
              <a:rPr lang="en"/>
              <a:t>The Mutomo reptile park aims to promote biodiversity conservation and act as a tourist attraction site. The park focuses on snake species and venom extraction contributing to both research and tourism development. The Kitui county government in collaboration with the national council of churches of Kenya established the Mutomo botanical garden, which seeks to enhance ecological sustainability. </a:t>
            </a:r>
            <a:endParaRPr/>
          </a:p>
          <a:p>
            <a:pPr indent="-308610" lvl="0" marL="457200" rtl="0" algn="l">
              <a:spcBef>
                <a:spcPts val="0"/>
              </a:spcBef>
              <a:spcAft>
                <a:spcPts val="0"/>
              </a:spcAft>
              <a:buSzPct val="100000"/>
              <a:buChar char="❖"/>
            </a:pPr>
            <a:r>
              <a:rPr lang="en"/>
              <a:t>Schools, college and technical institutions attracts students, staff and investors leading to urban experience . Education hubs create demand for housing transport, food services and recreational facilities fostering a knowledge driven urban economy</a:t>
            </a:r>
            <a:endParaRPr/>
          </a:p>
          <a:p>
            <a:pPr indent="-308610" lvl="0" marL="457200" rtl="0" algn="l">
              <a:spcBef>
                <a:spcPts val="0"/>
              </a:spcBef>
              <a:spcAft>
                <a:spcPts val="0"/>
              </a:spcAft>
              <a:buSzPct val="100000"/>
              <a:buChar char="❖"/>
            </a:pPr>
            <a:r>
              <a:rPr lang="en"/>
              <a:t>Mutha market is renowned for its vibrant livestock trade particularly goats. This trade attracts traders from various regions across the country contributing to the market’s economic dynamism. The regular livestock auctions and trade events foster a bustling commercial environment promoting local entrepreneurship and trade.  </a:t>
            </a:r>
            <a:endParaRPr/>
          </a:p>
          <a:p>
            <a:pPr indent="-308610" lvl="0" marL="457200" rtl="0" algn="l">
              <a:spcBef>
                <a:spcPts val="0"/>
              </a:spcBef>
              <a:spcAft>
                <a:spcPts val="0"/>
              </a:spcAft>
              <a:buSzPct val="100000"/>
              <a:buChar char="❖"/>
            </a:pPr>
            <a:r>
              <a:rPr lang="en"/>
              <a:t>Tsavo east national park offers immense tourism potential that significantly contributes to regional urbanization and economic development. The park is known for its reach biodiversity, unique landscapes and accessibility making it a prime destination for ecotourism and conservation efforts. Increased tourists numbers stimulate local businesses including crafts, food services and transport.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4475" y="1812589"/>
            <a:ext cx="1966500" cy="1518300"/>
          </a:xfrm>
          <a:prstGeom prst="rect">
            <a:avLst/>
          </a:prstGeom>
        </p:spPr>
        <p:txBody>
          <a:bodyPr anchorCtr="0" anchor="t" bIns="0" lIns="0" spcFirstLastPara="1" rIns="91425" wrap="square" tIns="91425">
            <a:normAutofit fontScale="90000"/>
          </a:bodyPr>
          <a:lstStyle/>
          <a:p>
            <a:pPr indent="0" lvl="0" marL="0" rtl="0" algn="ctr">
              <a:spcBef>
                <a:spcPts val="0"/>
              </a:spcBef>
              <a:spcAft>
                <a:spcPts val="0"/>
              </a:spcAft>
              <a:buNone/>
            </a:pPr>
            <a:r>
              <a:rPr lang="en">
                <a:solidFill>
                  <a:schemeClr val="accent4"/>
                </a:solidFill>
              </a:rPr>
              <a:t>Key Strategies that can promote urbanization and revenue generation</a:t>
            </a:r>
            <a:endParaRPr>
              <a:solidFill>
                <a:schemeClr val="accent4"/>
              </a:solidFill>
            </a:endParaRPr>
          </a:p>
        </p:txBody>
      </p:sp>
      <p:sp>
        <p:nvSpPr>
          <p:cNvPr id="173" name="Google Shape;173;p28"/>
          <p:cNvSpPr txBox="1"/>
          <p:nvPr>
            <p:ph idx="9" type="body"/>
          </p:nvPr>
        </p:nvSpPr>
        <p:spPr>
          <a:xfrm>
            <a:off x="2471700" y="480150"/>
            <a:ext cx="6280800" cy="4536300"/>
          </a:xfrm>
          <a:prstGeom prst="rect">
            <a:avLst/>
          </a:prstGeom>
        </p:spPr>
        <p:txBody>
          <a:bodyPr anchorCtr="0" anchor="ctr" bIns="0" lIns="0" spcFirstLastPara="1" rIns="0" wrap="square" tIns="0">
            <a:normAutofit/>
          </a:bodyPr>
          <a:lstStyle/>
          <a:p>
            <a:pPr indent="-273050" lvl="0" marL="457200" rtl="0" algn="l">
              <a:lnSpc>
                <a:spcPct val="95000"/>
              </a:lnSpc>
              <a:spcBef>
                <a:spcPts val="0"/>
              </a:spcBef>
              <a:spcAft>
                <a:spcPts val="0"/>
              </a:spcAft>
              <a:buClr>
                <a:srgbClr val="000000"/>
              </a:buClr>
              <a:buSzPts val="700"/>
              <a:buAutoNum type="arabicPeriod"/>
            </a:pPr>
            <a:r>
              <a:rPr lang="en" sz="1500">
                <a:solidFill>
                  <a:srgbClr val="000000"/>
                </a:solidFill>
              </a:rPr>
              <a:t>Provide necessary facilities such as loading ramps, water troughs, fences, sheds, pay points and lavatories in all livestock yards within the urban centres.This is likely to boost livestock trade especially in the Mutha area where it is vibrant hence increased revenue collection</a:t>
            </a:r>
            <a:endParaRPr sz="1500">
              <a:solidFill>
                <a:srgbClr val="000000"/>
              </a:solidFill>
            </a:endParaRPr>
          </a:p>
          <a:p>
            <a:pPr indent="-273050" lvl="0" marL="457200" rtl="0" algn="l">
              <a:lnSpc>
                <a:spcPct val="95000"/>
              </a:lnSpc>
              <a:spcBef>
                <a:spcPts val="0"/>
              </a:spcBef>
              <a:spcAft>
                <a:spcPts val="0"/>
              </a:spcAft>
              <a:buClr>
                <a:srgbClr val="000000"/>
              </a:buClr>
              <a:buSzPts val="700"/>
              <a:buAutoNum type="arabicPeriod"/>
            </a:pPr>
            <a:r>
              <a:rPr lang="en" sz="1500">
                <a:solidFill>
                  <a:srgbClr val="000000"/>
                </a:solidFill>
              </a:rPr>
              <a:t>Operationalization of the tourism circuit to take advantage of the neighbouring National Park and the Game Reserve. This is likely to boost urbanization and revenue in both Ikutha and Mutomo urban centers</a:t>
            </a:r>
            <a:endParaRPr sz="1500">
              <a:solidFill>
                <a:srgbClr val="000000"/>
              </a:solidFill>
            </a:endParaRPr>
          </a:p>
          <a:p>
            <a:pPr indent="-273050" lvl="0" marL="457200" rtl="0" algn="l">
              <a:lnSpc>
                <a:spcPct val="95000"/>
              </a:lnSpc>
              <a:spcBef>
                <a:spcPts val="0"/>
              </a:spcBef>
              <a:spcAft>
                <a:spcPts val="0"/>
              </a:spcAft>
              <a:buClr>
                <a:srgbClr val="000000"/>
              </a:buClr>
              <a:buSzPts val="700"/>
              <a:buAutoNum type="arabicPeriod"/>
            </a:pPr>
            <a:r>
              <a:rPr lang="en" sz="1500">
                <a:solidFill>
                  <a:srgbClr val="000000"/>
                </a:solidFill>
              </a:rPr>
              <a:t>Partnership with private investors to build eco-lodges, resorts, and cultural villages in scenic and historical areas within the zone.</a:t>
            </a:r>
            <a:endParaRPr sz="1500">
              <a:solidFill>
                <a:srgbClr val="000000"/>
              </a:solidFill>
            </a:endParaRPr>
          </a:p>
          <a:p>
            <a:pPr indent="-273050" lvl="0" marL="457200" rtl="0" algn="l">
              <a:lnSpc>
                <a:spcPct val="95000"/>
              </a:lnSpc>
              <a:spcBef>
                <a:spcPts val="0"/>
              </a:spcBef>
              <a:spcAft>
                <a:spcPts val="0"/>
              </a:spcAft>
              <a:buClr>
                <a:srgbClr val="000000"/>
              </a:buClr>
              <a:buSzPts val="700"/>
              <a:buAutoNum type="arabicPeriod"/>
            </a:pPr>
            <a:r>
              <a:rPr lang="en" sz="1500">
                <a:solidFill>
                  <a:srgbClr val="000000"/>
                </a:solidFill>
              </a:rPr>
              <a:t>Improvement of security on the Kitui – Tana River border to boost stability hence attract more investments </a:t>
            </a:r>
            <a:endParaRPr sz="1500">
              <a:solidFill>
                <a:srgbClr val="000000"/>
              </a:solidFill>
            </a:endParaRPr>
          </a:p>
        </p:txBody>
      </p:sp>
      <p:sp>
        <p:nvSpPr>
          <p:cNvPr id="174" name="Google Shape;174;p28"/>
          <p:cNvSpPr txBox="1"/>
          <p:nvPr>
            <p:ph idx="1" type="subTitle"/>
          </p:nvPr>
        </p:nvSpPr>
        <p:spPr>
          <a:xfrm>
            <a:off x="228600" y="4891059"/>
            <a:ext cx="1475700" cy="1254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solidFill>
                  <a:schemeClr val="dk2"/>
                </a:solidFill>
              </a:rPr>
              <a:t>MUTOMO-IKUTHA-KANZIKO-ATHI</a:t>
            </a:r>
            <a:endParaRPr>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9"/>
          <p:cNvSpPr txBox="1"/>
          <p:nvPr>
            <p:ph type="title"/>
          </p:nvPr>
        </p:nvSpPr>
        <p:spPr>
          <a:xfrm>
            <a:off x="311700" y="0"/>
            <a:ext cx="85206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40"/>
              <a:t>6. KANYANGI KANYONYOO EIZ URBANIZATION TRENDS</a:t>
            </a:r>
            <a:endParaRPr sz="2840"/>
          </a:p>
        </p:txBody>
      </p:sp>
      <p:sp>
        <p:nvSpPr>
          <p:cNvPr id="180" name="Google Shape;180;p29"/>
          <p:cNvSpPr txBox="1"/>
          <p:nvPr>
            <p:ph idx="1" type="body"/>
          </p:nvPr>
        </p:nvSpPr>
        <p:spPr>
          <a:xfrm>
            <a:off x="311700" y="658575"/>
            <a:ext cx="8520600" cy="3910500"/>
          </a:xfrm>
          <a:prstGeom prst="rect">
            <a:avLst/>
          </a:prstGeom>
        </p:spPr>
        <p:txBody>
          <a:bodyPr anchorCtr="0" anchor="t" bIns="91425" lIns="91425" spcFirstLastPara="1" rIns="91425" wrap="square" tIns="91425">
            <a:normAutofit fontScale="70000"/>
          </a:bodyPr>
          <a:lstStyle/>
          <a:p>
            <a:pPr indent="-308610" lvl="0" marL="457200" rtl="0" algn="l">
              <a:spcBef>
                <a:spcPts val="0"/>
              </a:spcBef>
              <a:spcAft>
                <a:spcPts val="0"/>
              </a:spcAft>
              <a:buSzPct val="100000"/>
              <a:buChar char="❖"/>
            </a:pPr>
            <a:r>
              <a:rPr lang="en"/>
              <a:t>Kanyonyoo strategic location at the convergence of major roads, Thika-Garissa, Kitui-Kibwezi and Embu-Siakago enhances its accessibility and connectivity to other parts of the nation. Establishment of the Kitui County Aggregation and Industrial Park(K-CAIP) is essential development in the region. This facility is designed to serve a centralized hub for value addition and marketing of Kitui agricultural products. The Park enhances market access and creates opportunities for local producers and investors. </a:t>
            </a:r>
            <a:endParaRPr/>
          </a:p>
          <a:p>
            <a:pPr indent="-308610" lvl="0" marL="457200" rtl="0" algn="l">
              <a:spcBef>
                <a:spcPts val="0"/>
              </a:spcBef>
              <a:spcAft>
                <a:spcPts val="0"/>
              </a:spcAft>
              <a:buSzPct val="100000"/>
              <a:buChar char="❖"/>
            </a:pPr>
            <a:r>
              <a:rPr lang="en"/>
              <a:t>Large quantities of construction rocks sufficient to support ballast crushing plants – the establishment of the rock crasher at Kwa Kilui. This provides material for road construction both locally and across the county. </a:t>
            </a:r>
            <a:endParaRPr/>
          </a:p>
          <a:p>
            <a:pPr indent="-308610" lvl="0" marL="457200" rtl="0" algn="l">
              <a:spcBef>
                <a:spcPts val="0"/>
              </a:spcBef>
              <a:spcAft>
                <a:spcPts val="0"/>
              </a:spcAft>
              <a:buSzPct val="100000"/>
              <a:buChar char="❖"/>
            </a:pPr>
            <a:r>
              <a:rPr lang="en"/>
              <a:t>Moreover, the zone has a great potential in agriculture, livestock farming, horticulture owing to its proximity the proposed Thwake dam. Mwitasyano and Tiva rivers although are seasonal rivers can provide water for irrigation through the sinking of sump wells. </a:t>
            </a:r>
            <a:endParaRPr/>
          </a:p>
          <a:p>
            <a:pPr indent="-308610" lvl="0" marL="457200" rtl="0" algn="l">
              <a:spcBef>
                <a:spcPts val="0"/>
              </a:spcBef>
              <a:spcAft>
                <a:spcPts val="0"/>
              </a:spcAft>
              <a:buSzPct val="100000"/>
              <a:buChar char="❖"/>
            </a:pPr>
            <a:r>
              <a:rPr lang="en"/>
              <a:t>Additionally, there are iron ore minerals deposits in Mithikwani and  Mikuyuni  areas. Artisanal miners get their daily livelihoods from small scale mining. </a:t>
            </a:r>
            <a:endParaRPr/>
          </a:p>
          <a:p>
            <a:pPr indent="-308610" lvl="0" marL="457200" rtl="0" algn="l">
              <a:spcBef>
                <a:spcPts val="0"/>
              </a:spcBef>
              <a:spcAft>
                <a:spcPts val="0"/>
              </a:spcAft>
              <a:buSzPct val="100000"/>
              <a:buChar char="❖"/>
            </a:pPr>
            <a:r>
              <a:rPr lang="en"/>
              <a:t>As an education hub, Kwa vonza is home to two major universities i.e. South Eastern Kenya University (SEKU) and Kenyatta University (KU). Today, 20 000 of Kwa Vonza’s residents are students and staff from the two universities. Kwa Vonza town provides accommodation for the numerous students, provide market for goods and services in the market. Local residents work in the university to improve livelihoods.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4475" y="1812589"/>
            <a:ext cx="1966500" cy="1518300"/>
          </a:xfrm>
          <a:prstGeom prst="rect">
            <a:avLst/>
          </a:prstGeom>
        </p:spPr>
        <p:txBody>
          <a:bodyPr anchorCtr="0" anchor="t" bIns="0" lIns="0" spcFirstLastPara="1" rIns="91425" wrap="square" tIns="91425">
            <a:normAutofit fontScale="90000"/>
          </a:bodyPr>
          <a:lstStyle/>
          <a:p>
            <a:pPr indent="0" lvl="0" marL="0" rtl="0" algn="ctr">
              <a:spcBef>
                <a:spcPts val="0"/>
              </a:spcBef>
              <a:spcAft>
                <a:spcPts val="0"/>
              </a:spcAft>
              <a:buNone/>
            </a:pPr>
            <a:r>
              <a:rPr lang="en">
                <a:solidFill>
                  <a:schemeClr val="accent4"/>
                </a:solidFill>
              </a:rPr>
              <a:t>Key Strategies that can promote urbanization and revenue generation</a:t>
            </a:r>
            <a:endParaRPr>
              <a:solidFill>
                <a:schemeClr val="accent4"/>
              </a:solidFill>
            </a:endParaRPr>
          </a:p>
        </p:txBody>
      </p:sp>
      <p:sp>
        <p:nvSpPr>
          <p:cNvPr id="186" name="Google Shape;186;p30"/>
          <p:cNvSpPr txBox="1"/>
          <p:nvPr>
            <p:ph idx="9" type="body"/>
          </p:nvPr>
        </p:nvSpPr>
        <p:spPr>
          <a:xfrm>
            <a:off x="2471700" y="480150"/>
            <a:ext cx="6280800" cy="4536300"/>
          </a:xfrm>
          <a:prstGeom prst="rect">
            <a:avLst/>
          </a:prstGeom>
        </p:spPr>
        <p:txBody>
          <a:bodyPr anchorCtr="0" anchor="ctr" bIns="0" lIns="0" spcFirstLastPara="1" rIns="0" wrap="square" tIns="0">
            <a:normAutofit/>
          </a:bodyPr>
          <a:lstStyle/>
          <a:p>
            <a:pPr indent="-273050" lvl="0" marL="457200" rtl="0" algn="l">
              <a:spcBef>
                <a:spcPts val="0"/>
              </a:spcBef>
              <a:spcAft>
                <a:spcPts val="0"/>
              </a:spcAft>
              <a:buClr>
                <a:srgbClr val="000000"/>
              </a:buClr>
              <a:buSzPts val="700"/>
              <a:buAutoNum type="arabicPeriod"/>
            </a:pPr>
            <a:r>
              <a:rPr lang="en" sz="1500">
                <a:solidFill>
                  <a:srgbClr val="000000"/>
                </a:solidFill>
              </a:rPr>
              <a:t>Expand/improve infrastructure around learning institutions, including roads, hostels, and ICT facilities.</a:t>
            </a:r>
            <a:endParaRPr sz="1500">
              <a:solidFill>
                <a:srgbClr val="000000"/>
              </a:solidFill>
            </a:endParaRPr>
          </a:p>
          <a:p>
            <a:pPr indent="-273050" lvl="0" marL="457200" rtl="0" algn="l">
              <a:spcBef>
                <a:spcPts val="0"/>
              </a:spcBef>
              <a:spcAft>
                <a:spcPts val="0"/>
              </a:spcAft>
              <a:buClr>
                <a:srgbClr val="000000"/>
              </a:buClr>
              <a:buSzPts val="700"/>
              <a:buAutoNum type="arabicPeriod"/>
            </a:pPr>
            <a:r>
              <a:rPr lang="en" sz="1500">
                <a:solidFill>
                  <a:srgbClr val="000000"/>
                </a:solidFill>
              </a:rPr>
              <a:t>Establish irrigation schemes using local rivers and promote water harvesting technologies.</a:t>
            </a:r>
            <a:endParaRPr sz="1500">
              <a:solidFill>
                <a:srgbClr val="000000"/>
              </a:solidFill>
            </a:endParaRPr>
          </a:p>
          <a:p>
            <a:pPr indent="-273050" lvl="0" marL="457200" rtl="0" algn="l">
              <a:spcBef>
                <a:spcPts val="0"/>
              </a:spcBef>
              <a:spcAft>
                <a:spcPts val="0"/>
              </a:spcAft>
              <a:buClr>
                <a:srgbClr val="000000"/>
              </a:buClr>
              <a:buSzPts val="700"/>
              <a:buAutoNum type="arabicPeriod"/>
            </a:pPr>
            <a:r>
              <a:rPr lang="en" sz="1500">
                <a:solidFill>
                  <a:srgbClr val="000000"/>
                </a:solidFill>
              </a:rPr>
              <a:t>Completion and successful operationalization of the County Aggregation and Industrial Park at Kanyonyoo. </a:t>
            </a:r>
            <a:endParaRPr sz="1500">
              <a:solidFill>
                <a:srgbClr val="000000"/>
              </a:solidFill>
            </a:endParaRPr>
          </a:p>
          <a:p>
            <a:pPr indent="-273050" lvl="0" marL="457200" rtl="0" algn="l">
              <a:spcBef>
                <a:spcPts val="0"/>
              </a:spcBef>
              <a:spcAft>
                <a:spcPts val="0"/>
              </a:spcAft>
              <a:buClr>
                <a:srgbClr val="000000"/>
              </a:buClr>
              <a:buSzPts val="700"/>
              <a:buAutoNum type="arabicPeriod"/>
            </a:pPr>
            <a:r>
              <a:rPr lang="en" sz="1500">
                <a:solidFill>
                  <a:srgbClr val="000000"/>
                </a:solidFill>
              </a:rPr>
              <a:t>Expansion and modernization of open-air markets in Kanyangi, Kanyonyoo and Kwa Vonza.</a:t>
            </a:r>
            <a:endParaRPr sz="1500">
              <a:solidFill>
                <a:srgbClr val="000000"/>
              </a:solidFill>
            </a:endParaRPr>
          </a:p>
          <a:p>
            <a:pPr indent="-273050" lvl="0" marL="457200" rtl="0" algn="l">
              <a:spcBef>
                <a:spcPts val="0"/>
              </a:spcBef>
              <a:spcAft>
                <a:spcPts val="0"/>
              </a:spcAft>
              <a:buClr>
                <a:srgbClr val="000000"/>
              </a:buClr>
              <a:buSzPts val="700"/>
              <a:buAutoNum type="arabicPeriod"/>
            </a:pPr>
            <a:r>
              <a:rPr lang="en" sz="1500">
                <a:solidFill>
                  <a:srgbClr val="000000"/>
                </a:solidFill>
              </a:rPr>
              <a:t>Register and license artisanal miners to legalize their operations and improve regulation, safety, and taxation. Introduce “mining-for-greening” projects: every mining license must contribute to a fund for tree planting and conservation.</a:t>
            </a:r>
            <a:endParaRPr sz="1500">
              <a:solidFill>
                <a:srgbClr val="000000"/>
              </a:solidFill>
            </a:endParaRPr>
          </a:p>
        </p:txBody>
      </p:sp>
      <p:sp>
        <p:nvSpPr>
          <p:cNvPr id="187" name="Google Shape;187;p30"/>
          <p:cNvSpPr txBox="1"/>
          <p:nvPr>
            <p:ph idx="1" type="subTitle"/>
          </p:nvPr>
        </p:nvSpPr>
        <p:spPr>
          <a:xfrm>
            <a:off x="228600" y="4891059"/>
            <a:ext cx="1475700" cy="1254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solidFill>
                  <a:schemeClr val="dk2"/>
                </a:solidFill>
              </a:rPr>
              <a:t>KANYANGI KANYONYOO</a:t>
            </a:r>
            <a:endParaRPr>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ph type="title"/>
          </p:nvPr>
        </p:nvSpPr>
        <p:spPr>
          <a:xfrm>
            <a:off x="311700" y="0"/>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Conclusion</a:t>
            </a:r>
            <a:endParaRPr/>
          </a:p>
        </p:txBody>
      </p:sp>
      <p:sp>
        <p:nvSpPr>
          <p:cNvPr id="193" name="Google Shape;193;p31"/>
          <p:cNvSpPr txBox="1"/>
          <p:nvPr>
            <p:ph idx="1" type="body"/>
          </p:nvPr>
        </p:nvSpPr>
        <p:spPr>
          <a:xfrm>
            <a:off x="311700" y="594200"/>
            <a:ext cx="8520600" cy="45492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Urbanization serves as a powerful driver of own-source revenue growth in Kitui County, creating a direct link between planned urban development and enhanced fiscal capacity. To maximize this potential, the county must strategically harness the unique advantages of each Economic Investment Zone (EIZ) through targeted interventions.</a:t>
            </a:r>
            <a:endParaRPr/>
          </a:p>
          <a:p>
            <a:pPr indent="-334327" lvl="0" marL="457200" rtl="0" algn="l">
              <a:spcBef>
                <a:spcPts val="0"/>
              </a:spcBef>
              <a:spcAft>
                <a:spcPts val="0"/>
              </a:spcAft>
              <a:buSzPct val="100000"/>
              <a:buChar char="❖"/>
            </a:pPr>
            <a:r>
              <a:rPr lang="en"/>
              <a:t>Key priorities include:</a:t>
            </a:r>
            <a:endParaRPr/>
          </a:p>
          <a:p>
            <a:pPr indent="-310832" lvl="1" marL="914400" rtl="0" algn="l">
              <a:spcBef>
                <a:spcPts val="0"/>
              </a:spcBef>
              <a:spcAft>
                <a:spcPts val="0"/>
              </a:spcAft>
              <a:buSzPct val="100000"/>
              <a:buChar char="➢"/>
            </a:pPr>
            <a:r>
              <a:rPr b="1" lang="en"/>
              <a:t>Development of a County Spatial Plan</a:t>
            </a:r>
            <a:r>
              <a:rPr lang="en"/>
              <a:t> – This will formally zone land uses across the county, expanding rateable areas under the National Rating Act (2024) and increasing revenue from land rates. Proper spatial planning ensures orderly urbanization while optimizing revenue streams.</a:t>
            </a:r>
            <a:endParaRPr/>
          </a:p>
          <a:p>
            <a:pPr indent="-310832" lvl="1" marL="914400" rtl="0" algn="l">
              <a:spcBef>
                <a:spcPts val="0"/>
              </a:spcBef>
              <a:spcAft>
                <a:spcPts val="0"/>
              </a:spcAft>
              <a:buSzPct val="100000"/>
              <a:buChar char="➢"/>
            </a:pPr>
            <a:r>
              <a:rPr b="1" lang="en"/>
              <a:t>Full Implementation of KIVEST –</a:t>
            </a:r>
            <a:r>
              <a:rPr lang="en"/>
              <a:t> The county must operationalize this vision through clear policies and institutional frameworks. Extending KIVEST beyond 2025 and aligning it with the spatial plan will ensure long-term sustainability, guiding investments in infrastructure, trade, and industrialization.</a:t>
            </a:r>
            <a:endParaRPr/>
          </a:p>
          <a:p>
            <a:pPr indent="-334327" lvl="0" marL="457200" rtl="0" algn="l">
              <a:spcBef>
                <a:spcPts val="0"/>
              </a:spcBef>
              <a:spcAft>
                <a:spcPts val="0"/>
              </a:spcAft>
              <a:buSzPct val="100000"/>
              <a:buChar char="❖"/>
            </a:pPr>
            <a:r>
              <a:rPr lang="en"/>
              <a:t>By adopting these measures, Kitui County can accelerate urbanization in a structured manner, unlocking new revenue opportunities while fostering equitable development across all zones. The success of this approach hinges on collaboration between county agencies, national government, private investors, and local communities to build a more prosperous and self-reliant future.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